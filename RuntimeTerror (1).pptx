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8"/>
  </p:notesMasterIdLst>
  <p:sldIdLst>
    <p:sldId id="291" r:id="rId2"/>
    <p:sldId id="281" r:id="rId3"/>
    <p:sldId id="298" r:id="rId4"/>
    <p:sldId id="293" r:id="rId5"/>
    <p:sldId id="294" r:id="rId6"/>
    <p:sldId id="296" r:id="rId7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97316"/>
    <a:srgbClr val="DBE6F1"/>
    <a:srgbClr val="F8FAFC"/>
    <a:srgbClr val="87888C"/>
    <a:srgbClr val="111827"/>
    <a:srgbClr val="0F172A"/>
    <a:srgbClr val="2C3639"/>
    <a:srgbClr val="3F4E4F"/>
    <a:srgbClr val="DCD7C9"/>
    <a:srgbClr val="E8DCC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6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9/6/2026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dirty="0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162311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dirty="0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9/6/2026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9/6/2026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9/6/2026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9/6/2026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9/6/2026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9/6/2026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9/6/2026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9/6/2026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9/6/2026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9/6/2026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9/6/2026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9/6/2026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6.jp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jp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hyperlink" Target="https://doi.org/10.1016/j.jcp.2018.10.045" TargetMode="External"/><Relationship Id="rId13" Type="http://schemas.openxmlformats.org/officeDocument/2006/relationships/hyperlink" Target="https://bhuvan.nrsc.gov.in" TargetMode="External"/><Relationship Id="rId18" Type="http://schemas.openxmlformats.org/officeDocument/2006/relationships/hyperlink" Target="https://mausam.imd.gov.in" TargetMode="External"/><Relationship Id="rId3" Type="http://schemas.openxmlformats.org/officeDocument/2006/relationships/image" Target="../media/image2.png"/><Relationship Id="rId7" Type="http://schemas.openxmlformats.org/officeDocument/2006/relationships/hyperlink" Target="https://sachet.ndma.gov.in" TargetMode="External"/><Relationship Id="rId12" Type="http://schemas.openxmlformats.org/officeDocument/2006/relationships/hyperlink" Target="https://sentinels.copernicus.eu" TargetMode="External"/><Relationship Id="rId17" Type="http://schemas.openxmlformats.org/officeDocument/2006/relationships/hyperlink" Target="https://cwc.gov.in" TargetMode="External"/><Relationship Id="rId2" Type="http://schemas.openxmlformats.org/officeDocument/2006/relationships/notesSlide" Target="../notesSlides/notesSlide5.xml"/><Relationship Id="rId16" Type="http://schemas.openxmlformats.org/officeDocument/2006/relationships/hyperlink" Target="https://smap.jpl.nasa.gov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niti.gov.in" TargetMode="External"/><Relationship Id="rId11" Type="http://schemas.openxmlformats.org/officeDocument/2006/relationships/hyperlink" Target="https://fhwa.dot.gov/engineering/hydraulics" TargetMode="External"/><Relationship Id="rId5" Type="http://schemas.openxmlformats.org/officeDocument/2006/relationships/hyperlink" Target="https://hpsdma.nic.in" TargetMode="External"/><Relationship Id="rId15" Type="http://schemas.openxmlformats.org/officeDocument/2006/relationships/hyperlink" Target="https://lora-alliance.org" TargetMode="External"/><Relationship Id="rId10" Type="http://schemas.openxmlformats.org/officeDocument/2006/relationships/hyperlink" Target="https://ascelibrary.org/journal/jhendu" TargetMode="External"/><Relationship Id="rId4" Type="http://schemas.openxmlformats.org/officeDocument/2006/relationships/hyperlink" Target="https://ndma.gov.in/Governance/Guidelines" TargetMode="External"/><Relationship Id="rId9" Type="http://schemas.openxmlformats.org/officeDocument/2006/relationships/hyperlink" Target="https://nature.com/articles/s41586-024-07145-1" TargetMode="External"/><Relationship Id="rId14" Type="http://schemas.openxmlformats.org/officeDocument/2006/relationships/hyperlink" Target="https://gpm.nasa.gov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916"/>
          <a:stretch/>
        </p:blipFill>
        <p:spPr>
          <a:xfrm>
            <a:off x="6854891" y="1715881"/>
            <a:ext cx="3203509" cy="3426237"/>
          </a:xfrm>
          <a:prstGeom prst="rect">
            <a:avLst/>
          </a:prstGeom>
        </p:spPr>
      </p:pic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31286" y="-526757"/>
            <a:ext cx="10363200" cy="2076450"/>
          </a:xfrm>
        </p:spPr>
        <p:txBody>
          <a:bodyPr/>
          <a:lstStyle/>
          <a:p>
            <a:r>
              <a:rPr lang="en-US" sz="4000" b="1" dirty="0">
                <a:solidFill>
                  <a:schemeClr val="tx2"/>
                </a:solidFill>
                <a:latin typeface="Garamond" panose="02020404030301010803" pitchFamily="18" charset="0"/>
              </a:rPr>
              <a:t>SMART INDIA HACKATHON 2026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88550" y="1085665"/>
            <a:ext cx="9055508" cy="5055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pPr marL="285750" indent="-285750" algn="jus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ID –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SIH-26192</a:t>
            </a:r>
          </a:p>
          <a:p>
            <a:pPr algn="just">
              <a:lnSpc>
                <a:spcPct val="100000"/>
              </a:lnSpc>
            </a:pPr>
            <a:endParaRPr lang="en-US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Title-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Flash Flood </a:t>
            </a:r>
          </a:p>
          <a:p>
            <a:pPr algn="just">
              <a:lnSpc>
                <a:spcPct val="100000"/>
              </a:lnSpc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	Prediction System for Hilly Regions using </a:t>
            </a:r>
          </a:p>
          <a:p>
            <a:pPr algn="just">
              <a:lnSpc>
                <a:spcPct val="100000"/>
              </a:lnSpc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	Multi-Source Data.</a:t>
            </a:r>
            <a:endParaRPr lang="en-US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Theme-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Disaster Management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PS Category-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Software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Team ID- 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159</a:t>
            </a: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                 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Team Name -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RUNTIME TERROR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6715432"/>
            <a:ext cx="12191999" cy="14256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1730477" y="-209843"/>
            <a:ext cx="8308258" cy="766484"/>
          </a:xfrm>
        </p:spPr>
        <p:txBody>
          <a:bodyPr/>
          <a:lstStyle/>
          <a:p>
            <a:pPr eaLnBrk="1" hangingPunct="1"/>
            <a:b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</a:br>
            <a:r>
              <a:rPr lang="en-US" sz="32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Flash Flood Prediction System for Hilly Regions using Multi-Source Data Theme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347200" y="6604153"/>
            <a:ext cx="2844800" cy="365125"/>
          </a:xfrm>
        </p:spPr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10" name="Oval 9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99273" y="87429"/>
            <a:ext cx="1631204" cy="699700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Runtime Terror </a:t>
            </a: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70380" y="1500"/>
            <a:ext cx="1959556" cy="925266"/>
          </a:xfrm>
          <a:prstGeom prst="rect">
            <a:avLst/>
          </a:prstGeom>
        </p:spPr>
      </p:pic>
      <p:sp>
        <p:nvSpPr>
          <p:cNvPr id="15362" name="Shape 6">
            <a:extLst>
              <a:ext uri="{FF2B5EF4-FFF2-40B4-BE49-F238E27FC236}">
                <a16:creationId xmlns:a16="http://schemas.microsoft.com/office/drawing/2014/main" id="{2B59A33A-7BA2-3F41-3646-312F6139EA2A}"/>
              </a:ext>
            </a:extLst>
          </p:cNvPr>
          <p:cNvSpPr/>
          <p:nvPr/>
        </p:nvSpPr>
        <p:spPr>
          <a:xfrm>
            <a:off x="299578" y="1092442"/>
            <a:ext cx="2514600" cy="384048"/>
          </a:xfrm>
          <a:prstGeom prst="roundRect">
            <a:avLst>
              <a:gd name="adj" fmla="val 16667"/>
            </a:avLst>
          </a:prstGeom>
          <a:solidFill>
            <a:srgbClr val="0B254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001" sz="1800" b="0" i="0" u="none" strike="noStrike" kern="120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363" name="Text 7">
            <a:extLst>
              <a:ext uri="{FF2B5EF4-FFF2-40B4-BE49-F238E27FC236}">
                <a16:creationId xmlns:a16="http://schemas.microsoft.com/office/drawing/2014/main" id="{6B76F243-93E0-A764-6A91-C623B6400917}"/>
              </a:ext>
            </a:extLst>
          </p:cNvPr>
          <p:cNvSpPr txBox="1"/>
          <p:nvPr/>
        </p:nvSpPr>
        <p:spPr>
          <a:xfrm>
            <a:off x="299578" y="1092442"/>
            <a:ext cx="2514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0" cap="none" spc="10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364" name="Shape 8">
            <a:extLst>
              <a:ext uri="{FF2B5EF4-FFF2-40B4-BE49-F238E27FC236}">
                <a16:creationId xmlns:a16="http://schemas.microsoft.com/office/drawing/2014/main" id="{2B6E8AB3-88F2-9238-CE09-9D6D5E580943}"/>
              </a:ext>
            </a:extLst>
          </p:cNvPr>
          <p:cNvSpPr/>
          <p:nvPr/>
        </p:nvSpPr>
        <p:spPr>
          <a:xfrm>
            <a:off x="3134218" y="1092442"/>
            <a:ext cx="2514600" cy="384048"/>
          </a:xfrm>
          <a:prstGeom prst="roundRect">
            <a:avLst>
              <a:gd name="adj" fmla="val 16667"/>
            </a:avLst>
          </a:prstGeom>
          <a:solidFill>
            <a:srgbClr val="0B254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001" sz="1800" b="0" i="0" u="none" strike="noStrike" kern="120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365" name="Text 9">
            <a:extLst>
              <a:ext uri="{FF2B5EF4-FFF2-40B4-BE49-F238E27FC236}">
                <a16:creationId xmlns:a16="http://schemas.microsoft.com/office/drawing/2014/main" id="{FD79C526-7F4D-EBB8-DC99-6A6651315BEF}"/>
              </a:ext>
            </a:extLst>
          </p:cNvPr>
          <p:cNvSpPr txBox="1"/>
          <p:nvPr/>
        </p:nvSpPr>
        <p:spPr>
          <a:xfrm>
            <a:off x="3134218" y="1092442"/>
            <a:ext cx="2514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0" cap="none" spc="10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EXISTING SOLUTION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366" name="Shape 10">
            <a:extLst>
              <a:ext uri="{FF2B5EF4-FFF2-40B4-BE49-F238E27FC236}">
                <a16:creationId xmlns:a16="http://schemas.microsoft.com/office/drawing/2014/main" id="{4C351224-BF07-EEC0-CA00-9BB8B0B1B905}"/>
              </a:ext>
            </a:extLst>
          </p:cNvPr>
          <p:cNvSpPr/>
          <p:nvPr/>
        </p:nvSpPr>
        <p:spPr>
          <a:xfrm>
            <a:off x="5968858" y="1092442"/>
            <a:ext cx="2514600" cy="384048"/>
          </a:xfrm>
          <a:prstGeom prst="roundRect">
            <a:avLst>
              <a:gd name="adj" fmla="val 16667"/>
            </a:avLst>
          </a:prstGeom>
          <a:solidFill>
            <a:srgbClr val="0B254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001" sz="1800" b="0" i="0" u="none" strike="noStrike" kern="120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367" name="Text 11">
            <a:extLst>
              <a:ext uri="{FF2B5EF4-FFF2-40B4-BE49-F238E27FC236}">
                <a16:creationId xmlns:a16="http://schemas.microsoft.com/office/drawing/2014/main" id="{1DEC7667-268B-2D8B-EAB2-CA691715E0E8}"/>
              </a:ext>
            </a:extLst>
          </p:cNvPr>
          <p:cNvSpPr txBox="1"/>
          <p:nvPr/>
        </p:nvSpPr>
        <p:spPr>
          <a:xfrm>
            <a:off x="5968858" y="1092442"/>
            <a:ext cx="2514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0" cap="none" spc="10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PROPOSED SOLUTION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368" name="Shape 14">
            <a:extLst>
              <a:ext uri="{FF2B5EF4-FFF2-40B4-BE49-F238E27FC236}">
                <a16:creationId xmlns:a16="http://schemas.microsoft.com/office/drawing/2014/main" id="{51E69418-C608-AC82-4BB5-330F0CAA55B1}"/>
              </a:ext>
            </a:extLst>
          </p:cNvPr>
          <p:cNvSpPr/>
          <p:nvPr/>
        </p:nvSpPr>
        <p:spPr>
          <a:xfrm>
            <a:off x="299578" y="1613650"/>
            <a:ext cx="2514600" cy="1188720"/>
          </a:xfrm>
          <a:prstGeom prst="roundRect">
            <a:avLst>
              <a:gd name="adj" fmla="val 5385"/>
            </a:avLst>
          </a:prstGeom>
          <a:solidFill>
            <a:srgbClr val="EAF2FA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001" sz="1800" b="0" i="0" u="none" strike="noStrike" kern="120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369" name="Text 15">
            <a:extLst>
              <a:ext uri="{FF2B5EF4-FFF2-40B4-BE49-F238E27FC236}">
                <a16:creationId xmlns:a16="http://schemas.microsoft.com/office/drawing/2014/main" id="{2551FBA5-5BF0-1F16-E660-ADC8E98429D0}"/>
              </a:ext>
            </a:extLst>
          </p:cNvPr>
          <p:cNvSpPr txBox="1"/>
          <p:nvPr/>
        </p:nvSpPr>
        <p:spPr>
          <a:xfrm>
            <a:off x="436738" y="170509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B2545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Cloud-Blind Satellites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370" name="Text 16">
            <a:extLst>
              <a:ext uri="{FF2B5EF4-FFF2-40B4-BE49-F238E27FC236}">
                <a16:creationId xmlns:a16="http://schemas.microsoft.com/office/drawing/2014/main" id="{09896E5B-C53C-DE11-B306-0A7EF7DA1692}"/>
              </a:ext>
            </a:extLst>
          </p:cNvPr>
          <p:cNvSpPr txBox="1"/>
          <p:nvPr/>
        </p:nvSpPr>
        <p:spPr>
          <a:xfrm>
            <a:off x="436738" y="2034274"/>
            <a:ext cx="22402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5A6B7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Optical imagery can't see slope saturation under monsoon storm cover.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371" name="Text 17">
            <a:extLst>
              <a:ext uri="{FF2B5EF4-FFF2-40B4-BE49-F238E27FC236}">
                <a16:creationId xmlns:a16="http://schemas.microsoft.com/office/drawing/2014/main" id="{84ED23C5-7CE4-955F-EC19-F15AB55FBB6C}"/>
              </a:ext>
            </a:extLst>
          </p:cNvPr>
          <p:cNvSpPr txBox="1"/>
          <p:nvPr/>
        </p:nvSpPr>
        <p:spPr>
          <a:xfrm>
            <a:off x="2832466" y="1887970"/>
            <a:ext cx="320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600" b="1" i="0" u="none" strike="noStrike" kern="1200" cap="none" spc="0" normalizeH="0" baseline="0" noProof="0" dirty="0">
                <a:ln>
                  <a:noFill/>
                </a:ln>
                <a:solidFill>
                  <a:srgbClr val="1C7293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»</a:t>
            </a:r>
            <a:endParaRPr kumimoji="0" lang="en-US" sz="26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372" name="Shape 18">
            <a:extLst>
              <a:ext uri="{FF2B5EF4-FFF2-40B4-BE49-F238E27FC236}">
                <a16:creationId xmlns:a16="http://schemas.microsoft.com/office/drawing/2014/main" id="{D30F447C-895A-6470-FD54-C6F6F295E5B9}"/>
              </a:ext>
            </a:extLst>
          </p:cNvPr>
          <p:cNvSpPr/>
          <p:nvPr/>
        </p:nvSpPr>
        <p:spPr>
          <a:xfrm>
            <a:off x="3134218" y="1613650"/>
            <a:ext cx="2514600" cy="1188720"/>
          </a:xfrm>
          <a:prstGeom prst="roundRect">
            <a:avLst>
              <a:gd name="adj" fmla="val 5385"/>
            </a:avLst>
          </a:prstGeom>
          <a:solidFill>
            <a:srgbClr val="EAF2FA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001" sz="1800" b="0" i="0" u="none" strike="noStrike" kern="120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373" name="Text 19">
            <a:extLst>
              <a:ext uri="{FF2B5EF4-FFF2-40B4-BE49-F238E27FC236}">
                <a16:creationId xmlns:a16="http://schemas.microsoft.com/office/drawing/2014/main" id="{67C44948-648F-547D-E0FB-7DE484730DE2}"/>
              </a:ext>
            </a:extLst>
          </p:cNvPr>
          <p:cNvSpPr txBox="1"/>
          <p:nvPr/>
        </p:nvSpPr>
        <p:spPr>
          <a:xfrm>
            <a:off x="3271378" y="1686802"/>
            <a:ext cx="2240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B2545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Optical Satellites (Landsat/MODIS)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374" name="Text 20">
            <a:extLst>
              <a:ext uri="{FF2B5EF4-FFF2-40B4-BE49-F238E27FC236}">
                <a16:creationId xmlns:a16="http://schemas.microsoft.com/office/drawing/2014/main" id="{0DA6B179-E36D-D2F4-F9CD-81DC3BAE0832}"/>
              </a:ext>
            </a:extLst>
          </p:cNvPr>
          <p:cNvSpPr txBox="1"/>
          <p:nvPr/>
        </p:nvSpPr>
        <p:spPr>
          <a:xfrm>
            <a:off x="3271378" y="2015986"/>
            <a:ext cx="22402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1" i="1" u="none" strike="noStrike" kern="1200" cap="none" spc="0" normalizeH="0" baseline="0" noProof="0" dirty="0">
                <a:ln>
                  <a:noFill/>
                </a:ln>
                <a:solidFill>
                  <a:srgbClr val="1C7293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Strength: </a:t>
            </a: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5A6B7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Wide regional coverage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1" i="1" u="none" strike="noStrike" kern="1200" cap="none" spc="0" normalizeH="0" baseline="0" noProof="0" dirty="0">
                <a:ln>
                  <a:noFill/>
                </a:ln>
                <a:solidFill>
                  <a:srgbClr val="FF6B35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Weakness: </a:t>
            </a: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5A6B7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100% blocked by storm clouds when it matters most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375" name="Text 21">
            <a:extLst>
              <a:ext uri="{FF2B5EF4-FFF2-40B4-BE49-F238E27FC236}">
                <a16:creationId xmlns:a16="http://schemas.microsoft.com/office/drawing/2014/main" id="{17AF7203-018F-9752-C89D-A43CBA5F5DEE}"/>
              </a:ext>
            </a:extLst>
          </p:cNvPr>
          <p:cNvSpPr txBox="1"/>
          <p:nvPr/>
        </p:nvSpPr>
        <p:spPr>
          <a:xfrm>
            <a:off x="5667106" y="1887970"/>
            <a:ext cx="320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600" b="1" i="0" u="none" strike="noStrike" kern="1200" cap="none" spc="0" normalizeH="0" baseline="0" noProof="0" dirty="0">
                <a:ln>
                  <a:noFill/>
                </a:ln>
                <a:solidFill>
                  <a:srgbClr val="1C7293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»</a:t>
            </a:r>
            <a:endParaRPr kumimoji="0" lang="en-US" sz="26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376" name="Shape 22">
            <a:extLst>
              <a:ext uri="{FF2B5EF4-FFF2-40B4-BE49-F238E27FC236}">
                <a16:creationId xmlns:a16="http://schemas.microsoft.com/office/drawing/2014/main" id="{137DFB5A-53CC-6207-78AD-4E503BB6185C}"/>
              </a:ext>
            </a:extLst>
          </p:cNvPr>
          <p:cNvSpPr/>
          <p:nvPr/>
        </p:nvSpPr>
        <p:spPr>
          <a:xfrm>
            <a:off x="5968858" y="1613650"/>
            <a:ext cx="2514600" cy="1188720"/>
          </a:xfrm>
          <a:prstGeom prst="roundRect">
            <a:avLst>
              <a:gd name="adj" fmla="val 5385"/>
            </a:avLst>
          </a:prstGeom>
          <a:solidFill>
            <a:srgbClr val="13315C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001" sz="1800" b="0" i="0" u="none" strike="noStrike" kern="120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377" name="Text 23">
            <a:extLst>
              <a:ext uri="{FF2B5EF4-FFF2-40B4-BE49-F238E27FC236}">
                <a16:creationId xmlns:a16="http://schemas.microsoft.com/office/drawing/2014/main" id="{3E650C14-86B7-F754-3307-3501AD91BCA4}"/>
              </a:ext>
            </a:extLst>
          </p:cNvPr>
          <p:cNvSpPr txBox="1"/>
          <p:nvPr/>
        </p:nvSpPr>
        <p:spPr>
          <a:xfrm>
            <a:off x="6106018" y="170509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Space-to-Ground Radar Fusion</a:t>
            </a:r>
          </a:p>
        </p:txBody>
      </p:sp>
      <p:sp>
        <p:nvSpPr>
          <p:cNvPr id="15378" name="Text 24">
            <a:extLst>
              <a:ext uri="{FF2B5EF4-FFF2-40B4-BE49-F238E27FC236}">
                <a16:creationId xmlns:a16="http://schemas.microsoft.com/office/drawing/2014/main" id="{B378B408-F635-058A-C218-72CC9C27451E}"/>
              </a:ext>
            </a:extLst>
          </p:cNvPr>
          <p:cNvSpPr txBox="1"/>
          <p:nvPr/>
        </p:nvSpPr>
        <p:spPr>
          <a:xfrm>
            <a:off x="6106018" y="2034274"/>
            <a:ext cx="22402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marR="0" lvl="0" indent="-342900" algn="l" defTabSz="914400" rtl="0" eaLnBrk="1" fontAlgn="auto" latinLnBrk="0" hangingPunct="1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  <a:buClrTx/>
              <a:buSzPct val="100000"/>
              <a:buFontTx/>
              <a:buChar char="▪"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CADCF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Sentinel-1 C-Band InSAR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  <a:buClrTx/>
              <a:buSzPct val="100000"/>
              <a:buFontTx/>
              <a:buChar char="▪"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CADCF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NASA GPM rain fusion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  <a:buClrTx/>
              <a:buSzPct val="100000"/>
              <a:buFontTx/>
              <a:buChar char="▪"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CADCF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Pierces 100% cloud cover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379" name="Shape 27">
            <a:extLst>
              <a:ext uri="{FF2B5EF4-FFF2-40B4-BE49-F238E27FC236}">
                <a16:creationId xmlns:a16="http://schemas.microsoft.com/office/drawing/2014/main" id="{9ED075B2-6366-FE59-41FC-E320025CD5BE}"/>
              </a:ext>
            </a:extLst>
          </p:cNvPr>
          <p:cNvSpPr/>
          <p:nvPr/>
        </p:nvSpPr>
        <p:spPr>
          <a:xfrm>
            <a:off x="299578" y="2912098"/>
            <a:ext cx="2514600" cy="1188720"/>
          </a:xfrm>
          <a:prstGeom prst="roundRect">
            <a:avLst>
              <a:gd name="adj" fmla="val 5385"/>
            </a:avLst>
          </a:prstGeom>
          <a:solidFill>
            <a:srgbClr val="EAF2FA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001" sz="1800" b="0" i="0" u="none" strike="noStrike" kern="120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380" name="Text 28">
            <a:extLst>
              <a:ext uri="{FF2B5EF4-FFF2-40B4-BE49-F238E27FC236}">
                <a16:creationId xmlns:a16="http://schemas.microsoft.com/office/drawing/2014/main" id="{B5B17EA2-1499-B633-CD6F-3C65467760F4}"/>
              </a:ext>
            </a:extLst>
          </p:cNvPr>
          <p:cNvSpPr txBox="1"/>
          <p:nvPr/>
        </p:nvSpPr>
        <p:spPr>
          <a:xfrm>
            <a:off x="436738" y="3003538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Cellular Tower Washouts</a:t>
            </a:r>
          </a:p>
        </p:txBody>
      </p:sp>
      <p:sp>
        <p:nvSpPr>
          <p:cNvPr id="15381" name="Text 29">
            <a:extLst>
              <a:ext uri="{FF2B5EF4-FFF2-40B4-BE49-F238E27FC236}">
                <a16:creationId xmlns:a16="http://schemas.microsoft.com/office/drawing/2014/main" id="{8107FBF2-B4AB-3B7A-F55F-6841C6FC9714}"/>
              </a:ext>
            </a:extLst>
          </p:cNvPr>
          <p:cNvSpPr txBox="1"/>
          <p:nvPr/>
        </p:nvSpPr>
        <p:spPr>
          <a:xfrm>
            <a:off x="436738" y="3332722"/>
            <a:ext cx="22402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1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Telecom infrastructure fails exactly when alerts are needed.</a:t>
            </a:r>
          </a:p>
        </p:txBody>
      </p:sp>
      <p:sp>
        <p:nvSpPr>
          <p:cNvPr id="15382" name="Text 30">
            <a:extLst>
              <a:ext uri="{FF2B5EF4-FFF2-40B4-BE49-F238E27FC236}">
                <a16:creationId xmlns:a16="http://schemas.microsoft.com/office/drawing/2014/main" id="{85023838-0FA7-4042-166F-6093BA626288}"/>
              </a:ext>
            </a:extLst>
          </p:cNvPr>
          <p:cNvSpPr txBox="1"/>
          <p:nvPr/>
        </p:nvSpPr>
        <p:spPr>
          <a:xfrm>
            <a:off x="2832466" y="3186418"/>
            <a:ext cx="320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600" b="1" i="0" u="none" strike="noStrike" kern="1200" cap="none" spc="0" normalizeH="0" baseline="0" noProof="0" dirty="0">
                <a:ln>
                  <a:noFill/>
                </a:ln>
                <a:solidFill>
                  <a:srgbClr val="1C7293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»</a:t>
            </a:r>
            <a:endParaRPr kumimoji="0" lang="en-US" sz="26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433" name="Shape 31">
            <a:extLst>
              <a:ext uri="{FF2B5EF4-FFF2-40B4-BE49-F238E27FC236}">
                <a16:creationId xmlns:a16="http://schemas.microsoft.com/office/drawing/2014/main" id="{03FCA4E6-340D-B23E-CF92-18546757323D}"/>
              </a:ext>
            </a:extLst>
          </p:cNvPr>
          <p:cNvSpPr/>
          <p:nvPr/>
        </p:nvSpPr>
        <p:spPr>
          <a:xfrm>
            <a:off x="3134218" y="2912098"/>
            <a:ext cx="2514600" cy="1188720"/>
          </a:xfrm>
          <a:prstGeom prst="roundRect">
            <a:avLst>
              <a:gd name="adj" fmla="val 5385"/>
            </a:avLst>
          </a:prstGeom>
          <a:solidFill>
            <a:srgbClr val="EAF2FA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001" sz="1800" b="0" i="0" u="none" strike="noStrike" kern="120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435" name="Text 32">
            <a:extLst>
              <a:ext uri="{FF2B5EF4-FFF2-40B4-BE49-F238E27FC236}">
                <a16:creationId xmlns:a16="http://schemas.microsoft.com/office/drawing/2014/main" id="{62E34330-0020-ADD7-BC0C-7DA560B15F4F}"/>
              </a:ext>
            </a:extLst>
          </p:cNvPr>
          <p:cNvSpPr txBox="1"/>
          <p:nvPr/>
        </p:nvSpPr>
        <p:spPr>
          <a:xfrm>
            <a:off x="3271378" y="2985250"/>
            <a:ext cx="2240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SMS / Cellular Alert Systems</a:t>
            </a:r>
          </a:p>
        </p:txBody>
      </p:sp>
      <p:sp>
        <p:nvSpPr>
          <p:cNvPr id="15436" name="Text 33">
            <a:extLst>
              <a:ext uri="{FF2B5EF4-FFF2-40B4-BE49-F238E27FC236}">
                <a16:creationId xmlns:a16="http://schemas.microsoft.com/office/drawing/2014/main" id="{4399F14A-6CD5-D839-5C6D-9D72F0637A79}"/>
              </a:ext>
            </a:extLst>
          </p:cNvPr>
          <p:cNvSpPr txBox="1"/>
          <p:nvPr/>
        </p:nvSpPr>
        <p:spPr>
          <a:xfrm>
            <a:off x="3271378" y="3314434"/>
            <a:ext cx="22402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1" i="1" u="none" strike="noStrike" kern="1200" cap="none" spc="0" normalizeH="0" baseline="0" noProof="0" dirty="0">
                <a:ln>
                  <a:noFill/>
                </a:ln>
                <a:solidFill>
                  <a:srgbClr val="1C7293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Strength: </a:t>
            </a: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5A6B7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Familiar, easy to reach citizens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1" i="1" u="none" strike="noStrike" kern="1200" cap="none" spc="0" normalizeH="0" baseline="0" noProof="0" dirty="0">
                <a:ln>
                  <a:noFill/>
                </a:ln>
                <a:solidFill>
                  <a:srgbClr val="FF6B35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Weakness: </a:t>
            </a: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5A6B7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Towers wash out in the same disaster they're meant to warn about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437" name="Text 34">
            <a:extLst>
              <a:ext uri="{FF2B5EF4-FFF2-40B4-BE49-F238E27FC236}">
                <a16:creationId xmlns:a16="http://schemas.microsoft.com/office/drawing/2014/main" id="{10A7C3A2-6699-B2F4-4008-A3762F312CB3}"/>
              </a:ext>
            </a:extLst>
          </p:cNvPr>
          <p:cNvSpPr txBox="1"/>
          <p:nvPr/>
        </p:nvSpPr>
        <p:spPr>
          <a:xfrm>
            <a:off x="5667106" y="3186418"/>
            <a:ext cx="320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600" b="1" i="0" u="none" strike="noStrike" kern="1200" cap="none" spc="0" normalizeH="0" baseline="0" noProof="0" dirty="0">
                <a:ln>
                  <a:noFill/>
                </a:ln>
                <a:solidFill>
                  <a:srgbClr val="1C7293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»</a:t>
            </a:r>
            <a:endParaRPr kumimoji="0" lang="en-US" sz="26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438" name="Shape 35">
            <a:extLst>
              <a:ext uri="{FF2B5EF4-FFF2-40B4-BE49-F238E27FC236}">
                <a16:creationId xmlns:a16="http://schemas.microsoft.com/office/drawing/2014/main" id="{E8F07048-262F-0991-EFD2-2C1ADFF4DCCB}"/>
              </a:ext>
            </a:extLst>
          </p:cNvPr>
          <p:cNvSpPr/>
          <p:nvPr/>
        </p:nvSpPr>
        <p:spPr>
          <a:xfrm>
            <a:off x="5968858" y="2912098"/>
            <a:ext cx="2514600" cy="1188720"/>
          </a:xfrm>
          <a:prstGeom prst="roundRect">
            <a:avLst>
              <a:gd name="adj" fmla="val 5385"/>
            </a:avLst>
          </a:prstGeom>
          <a:solidFill>
            <a:srgbClr val="13315C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001" sz="1800" b="0" i="0" u="none" strike="noStrike" kern="120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439" name="Text 36">
            <a:extLst>
              <a:ext uri="{FF2B5EF4-FFF2-40B4-BE49-F238E27FC236}">
                <a16:creationId xmlns:a16="http://schemas.microsoft.com/office/drawing/2014/main" id="{4555A811-F6D9-6052-1BFC-1F877B44BFE1}"/>
              </a:ext>
            </a:extLst>
          </p:cNvPr>
          <p:cNvSpPr txBox="1"/>
          <p:nvPr/>
        </p:nvSpPr>
        <p:spPr>
          <a:xfrm>
            <a:off x="6106018" y="3003538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Zero-Internet Solar LoRa Mesh</a:t>
            </a:r>
          </a:p>
        </p:txBody>
      </p:sp>
      <p:sp>
        <p:nvSpPr>
          <p:cNvPr id="15440" name="Text 37">
            <a:extLst>
              <a:ext uri="{FF2B5EF4-FFF2-40B4-BE49-F238E27FC236}">
                <a16:creationId xmlns:a16="http://schemas.microsoft.com/office/drawing/2014/main" id="{61CE04A0-D274-AC95-A708-8ACC7D60D705}"/>
              </a:ext>
            </a:extLst>
          </p:cNvPr>
          <p:cNvSpPr txBox="1"/>
          <p:nvPr/>
        </p:nvSpPr>
        <p:spPr>
          <a:xfrm>
            <a:off x="6106018" y="3332722"/>
            <a:ext cx="22402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marR="0" lvl="0" indent="-342900" algn="l" defTabSz="914400" rtl="0" eaLnBrk="1" fontAlgn="auto" latinLnBrk="0" hangingPunct="1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  <a:buClrTx/>
              <a:buSzPct val="100000"/>
              <a:buFontTx/>
              <a:buChar char="▪"/>
              <a:tabLst/>
              <a:defRPr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Autonomous 868MHz mesh</a:t>
            </a:r>
          </a:p>
          <a:p>
            <a:pPr marL="342900" marR="0" lvl="0" indent="-342900" algn="l" defTabSz="914400" rtl="0" eaLnBrk="1" fontAlgn="auto" latinLnBrk="0" hangingPunct="1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  <a:buClrTx/>
              <a:buSzPct val="100000"/>
              <a:buFontTx/>
              <a:buChar char="▪"/>
              <a:tabLst/>
              <a:defRPr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Independent of grid &amp; telecom</a:t>
            </a:r>
          </a:p>
          <a:p>
            <a:pPr marL="342900" marR="0" lvl="0" indent="-342900" algn="l" defTabSz="914400" rtl="0" eaLnBrk="1" fontAlgn="auto" latinLnBrk="0" hangingPunct="1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  <a:buClrTx/>
              <a:buSzPct val="100000"/>
              <a:buFontTx/>
              <a:buChar char="▪"/>
              <a:tabLst/>
              <a:defRPr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Triggers sirens &amp; road booms</a:t>
            </a:r>
          </a:p>
        </p:txBody>
      </p:sp>
      <p:sp>
        <p:nvSpPr>
          <p:cNvPr id="15441" name="Shape 40">
            <a:extLst>
              <a:ext uri="{FF2B5EF4-FFF2-40B4-BE49-F238E27FC236}">
                <a16:creationId xmlns:a16="http://schemas.microsoft.com/office/drawing/2014/main" id="{6348564F-8D11-6198-05BD-6279D2ED4FF4}"/>
              </a:ext>
            </a:extLst>
          </p:cNvPr>
          <p:cNvSpPr/>
          <p:nvPr/>
        </p:nvSpPr>
        <p:spPr>
          <a:xfrm>
            <a:off x="299578" y="4210546"/>
            <a:ext cx="2514600" cy="1188720"/>
          </a:xfrm>
          <a:prstGeom prst="roundRect">
            <a:avLst>
              <a:gd name="adj" fmla="val 5385"/>
            </a:avLst>
          </a:prstGeom>
          <a:solidFill>
            <a:srgbClr val="EAF2FA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001" sz="1800" b="0" i="0" u="none" strike="noStrike" kern="120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442" name="Text 41">
            <a:extLst>
              <a:ext uri="{FF2B5EF4-FFF2-40B4-BE49-F238E27FC236}">
                <a16:creationId xmlns:a16="http://schemas.microsoft.com/office/drawing/2014/main" id="{CF0590F1-2657-743A-A505-FA0FEF4F36A1}"/>
              </a:ext>
            </a:extLst>
          </p:cNvPr>
          <p:cNvSpPr txBox="1"/>
          <p:nvPr/>
        </p:nvSpPr>
        <p:spPr>
          <a:xfrm>
            <a:off x="436738" y="4301986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Black-Box False Alarms</a:t>
            </a:r>
          </a:p>
        </p:txBody>
      </p:sp>
      <p:sp>
        <p:nvSpPr>
          <p:cNvPr id="15443" name="Text 42">
            <a:extLst>
              <a:ext uri="{FF2B5EF4-FFF2-40B4-BE49-F238E27FC236}">
                <a16:creationId xmlns:a16="http://schemas.microsoft.com/office/drawing/2014/main" id="{0BDDF016-2602-DC57-15A6-0CA2B073535F}"/>
              </a:ext>
            </a:extLst>
          </p:cNvPr>
          <p:cNvSpPr txBox="1"/>
          <p:nvPr/>
        </p:nvSpPr>
        <p:spPr>
          <a:xfrm>
            <a:off x="436738" y="4631170"/>
            <a:ext cx="22402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1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Statistical AI erodes trust with frequent false positives.</a:t>
            </a:r>
          </a:p>
        </p:txBody>
      </p:sp>
      <p:sp>
        <p:nvSpPr>
          <p:cNvPr id="15444" name="Text 43">
            <a:extLst>
              <a:ext uri="{FF2B5EF4-FFF2-40B4-BE49-F238E27FC236}">
                <a16:creationId xmlns:a16="http://schemas.microsoft.com/office/drawing/2014/main" id="{7242FFFD-D30E-19D0-DB45-2BAED786A021}"/>
              </a:ext>
            </a:extLst>
          </p:cNvPr>
          <p:cNvSpPr txBox="1"/>
          <p:nvPr/>
        </p:nvSpPr>
        <p:spPr>
          <a:xfrm>
            <a:off x="2832466" y="4484866"/>
            <a:ext cx="320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600" b="1" i="0" u="none" strike="noStrike" kern="1200" cap="none" spc="0" normalizeH="0" baseline="0" noProof="0" dirty="0">
                <a:ln>
                  <a:noFill/>
                </a:ln>
                <a:solidFill>
                  <a:srgbClr val="1C7293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»</a:t>
            </a:r>
            <a:endParaRPr kumimoji="0" lang="en-US" sz="26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445" name="Shape 44">
            <a:extLst>
              <a:ext uri="{FF2B5EF4-FFF2-40B4-BE49-F238E27FC236}">
                <a16:creationId xmlns:a16="http://schemas.microsoft.com/office/drawing/2014/main" id="{6A33A1C0-60DB-CF06-58B0-DB27F0D496DD}"/>
              </a:ext>
            </a:extLst>
          </p:cNvPr>
          <p:cNvSpPr/>
          <p:nvPr/>
        </p:nvSpPr>
        <p:spPr>
          <a:xfrm>
            <a:off x="3134218" y="4210546"/>
            <a:ext cx="2514600" cy="1188720"/>
          </a:xfrm>
          <a:prstGeom prst="roundRect">
            <a:avLst>
              <a:gd name="adj" fmla="val 5385"/>
            </a:avLst>
          </a:prstGeom>
          <a:solidFill>
            <a:srgbClr val="EAF2FA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001" sz="1800" b="0" i="0" u="none" strike="noStrike" kern="120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446" name="Text 45">
            <a:extLst>
              <a:ext uri="{FF2B5EF4-FFF2-40B4-BE49-F238E27FC236}">
                <a16:creationId xmlns:a16="http://schemas.microsoft.com/office/drawing/2014/main" id="{2340FCD0-8139-7085-EAA3-A15583BE7500}"/>
              </a:ext>
            </a:extLst>
          </p:cNvPr>
          <p:cNvSpPr txBox="1"/>
          <p:nvPr/>
        </p:nvSpPr>
        <p:spPr>
          <a:xfrm>
            <a:off x="3271378" y="4283698"/>
            <a:ext cx="2240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Generic ML / Statistical Models</a:t>
            </a:r>
          </a:p>
        </p:txBody>
      </p:sp>
      <p:sp>
        <p:nvSpPr>
          <p:cNvPr id="15447" name="Text 46">
            <a:extLst>
              <a:ext uri="{FF2B5EF4-FFF2-40B4-BE49-F238E27FC236}">
                <a16:creationId xmlns:a16="http://schemas.microsoft.com/office/drawing/2014/main" id="{EA2C2BD5-06E5-AB64-7D5A-4B8DAC6221EE}"/>
              </a:ext>
            </a:extLst>
          </p:cNvPr>
          <p:cNvSpPr txBox="1"/>
          <p:nvPr/>
        </p:nvSpPr>
        <p:spPr>
          <a:xfrm>
            <a:off x="3271378" y="4612882"/>
            <a:ext cx="22402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1" i="1" u="none" strike="noStrike" kern="1200" cap="none" spc="0" normalizeH="0" baseline="0" noProof="0" dirty="0">
                <a:ln>
                  <a:noFill/>
                </a:ln>
                <a:solidFill>
                  <a:srgbClr val="1C7293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Strength: </a:t>
            </a: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5A6B7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Fast to train and deploy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1" i="1" u="none" strike="noStrike" kern="1200" cap="none" spc="0" normalizeH="0" baseline="0" noProof="0" dirty="0">
                <a:ln>
                  <a:noFill/>
                </a:ln>
                <a:solidFill>
                  <a:srgbClr val="FF6B35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Weakness: </a:t>
            </a: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5A6B7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No physical grounding — high false-alarm rate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448" name="Text 47">
            <a:extLst>
              <a:ext uri="{FF2B5EF4-FFF2-40B4-BE49-F238E27FC236}">
                <a16:creationId xmlns:a16="http://schemas.microsoft.com/office/drawing/2014/main" id="{94086871-60F9-DEFA-E000-CCF406CC30B7}"/>
              </a:ext>
            </a:extLst>
          </p:cNvPr>
          <p:cNvSpPr txBox="1"/>
          <p:nvPr/>
        </p:nvSpPr>
        <p:spPr>
          <a:xfrm>
            <a:off x="5667106" y="4484866"/>
            <a:ext cx="320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600" b="1" i="0" u="none" strike="noStrike" kern="1200" cap="none" spc="0" normalizeH="0" baseline="0" noProof="0" dirty="0">
                <a:ln>
                  <a:noFill/>
                </a:ln>
                <a:solidFill>
                  <a:srgbClr val="1C7293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»</a:t>
            </a:r>
            <a:endParaRPr kumimoji="0" lang="en-US" sz="26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449" name="Shape 48">
            <a:extLst>
              <a:ext uri="{FF2B5EF4-FFF2-40B4-BE49-F238E27FC236}">
                <a16:creationId xmlns:a16="http://schemas.microsoft.com/office/drawing/2014/main" id="{49BC80A0-D8BA-A4B8-B66D-BF35463F1DBE}"/>
              </a:ext>
            </a:extLst>
          </p:cNvPr>
          <p:cNvSpPr/>
          <p:nvPr/>
        </p:nvSpPr>
        <p:spPr>
          <a:xfrm>
            <a:off x="5968858" y="4210546"/>
            <a:ext cx="2514600" cy="1188720"/>
          </a:xfrm>
          <a:prstGeom prst="roundRect">
            <a:avLst>
              <a:gd name="adj" fmla="val 5385"/>
            </a:avLst>
          </a:prstGeom>
          <a:solidFill>
            <a:srgbClr val="13315C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001" sz="1800" b="0" i="0" u="none" strike="noStrike" kern="120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450" name="Text 49">
            <a:extLst>
              <a:ext uri="{FF2B5EF4-FFF2-40B4-BE49-F238E27FC236}">
                <a16:creationId xmlns:a16="http://schemas.microsoft.com/office/drawing/2014/main" id="{ABAD2446-76E8-9299-0103-90B662BB58D6}"/>
              </a:ext>
            </a:extLst>
          </p:cNvPr>
          <p:cNvSpPr txBox="1"/>
          <p:nvPr/>
        </p:nvSpPr>
        <p:spPr>
          <a:xfrm>
            <a:off x="6106018" y="4301986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Physics-Informed AI (PINN)</a:t>
            </a:r>
          </a:p>
        </p:txBody>
      </p:sp>
      <p:sp>
        <p:nvSpPr>
          <p:cNvPr id="15451" name="Text 50">
            <a:extLst>
              <a:ext uri="{FF2B5EF4-FFF2-40B4-BE49-F238E27FC236}">
                <a16:creationId xmlns:a16="http://schemas.microsoft.com/office/drawing/2014/main" id="{3B013625-61A0-104D-A5B6-D9CA0A066F71}"/>
              </a:ext>
            </a:extLst>
          </p:cNvPr>
          <p:cNvSpPr txBox="1"/>
          <p:nvPr/>
        </p:nvSpPr>
        <p:spPr>
          <a:xfrm>
            <a:off x="6106018" y="4631170"/>
            <a:ext cx="230646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marR="0" lvl="0" indent="-342900" algn="l" defTabSz="914400" rtl="0" eaLnBrk="1" fontAlgn="auto" latinLnBrk="0" hangingPunct="1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  <a:buClrTx/>
              <a:buSzPct val="100000"/>
              <a:buFontTx/>
              <a:buChar char="▪"/>
              <a:tabLst/>
              <a:defRPr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Mohr-Coulomb + Saint-</a:t>
            </a:r>
            <a:r>
              <a:rPr lang="en-US" sz="1050" dirty="0" err="1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Venant</a:t>
            </a: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laws</a:t>
            </a:r>
          </a:p>
          <a:p>
            <a:pPr marL="342900" marR="0" lvl="0" indent="-342900" algn="l" defTabSz="914400" rtl="0" eaLnBrk="1" fontAlgn="auto" latinLnBrk="0" hangingPunct="1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  <a:buClrTx/>
              <a:buSzPct val="100000"/>
              <a:buFontTx/>
              <a:buChar char="▪"/>
              <a:tabLst/>
              <a:defRPr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 = 0.9997 accuracy</a:t>
            </a:r>
          </a:p>
          <a:p>
            <a:pPr marL="342900" marR="0" lvl="0" indent="-342900" algn="l" defTabSz="914400" rtl="0" eaLnBrk="1" fontAlgn="auto" latinLnBrk="0" hangingPunct="1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  <a:buClrTx/>
              <a:buSzPct val="100000"/>
              <a:buFontTx/>
              <a:buChar char="▪"/>
              <a:tabLst/>
              <a:defRPr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Near-zero false alarms</a:t>
            </a:r>
          </a:p>
        </p:txBody>
      </p:sp>
      <p:sp>
        <p:nvSpPr>
          <p:cNvPr id="15452" name="Shape 53">
            <a:extLst>
              <a:ext uri="{FF2B5EF4-FFF2-40B4-BE49-F238E27FC236}">
                <a16:creationId xmlns:a16="http://schemas.microsoft.com/office/drawing/2014/main" id="{4B9C077B-C6FF-9EB1-95F2-4A228603E5C9}"/>
              </a:ext>
            </a:extLst>
          </p:cNvPr>
          <p:cNvSpPr/>
          <p:nvPr/>
        </p:nvSpPr>
        <p:spPr>
          <a:xfrm>
            <a:off x="299578" y="5508994"/>
            <a:ext cx="2514600" cy="1188720"/>
          </a:xfrm>
          <a:prstGeom prst="roundRect">
            <a:avLst>
              <a:gd name="adj" fmla="val 5385"/>
            </a:avLst>
          </a:prstGeom>
          <a:solidFill>
            <a:srgbClr val="EAF2FA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001" sz="1800" b="0" i="0" u="none" strike="noStrike" kern="120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453" name="Text 54">
            <a:extLst>
              <a:ext uri="{FF2B5EF4-FFF2-40B4-BE49-F238E27FC236}">
                <a16:creationId xmlns:a16="http://schemas.microsoft.com/office/drawing/2014/main" id="{15DEC5CB-02AB-2B23-F505-BE5C99621B5D}"/>
              </a:ext>
            </a:extLst>
          </p:cNvPr>
          <p:cNvSpPr txBox="1"/>
          <p:nvPr/>
        </p:nvSpPr>
        <p:spPr>
          <a:xfrm>
            <a:off x="436738" y="5600434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Automatic Evacuation</a:t>
            </a:r>
          </a:p>
        </p:txBody>
      </p:sp>
      <p:sp>
        <p:nvSpPr>
          <p:cNvPr id="15454" name="Text 55">
            <a:extLst>
              <a:ext uri="{FF2B5EF4-FFF2-40B4-BE49-F238E27FC236}">
                <a16:creationId xmlns:a16="http://schemas.microsoft.com/office/drawing/2014/main" id="{C301A881-40F6-EECF-5F2D-038B985D0A8B}"/>
              </a:ext>
            </a:extLst>
          </p:cNvPr>
          <p:cNvSpPr txBox="1"/>
          <p:nvPr/>
        </p:nvSpPr>
        <p:spPr>
          <a:xfrm>
            <a:off x="436738" y="5929618"/>
            <a:ext cx="22402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1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siren systems are slow and depend on human response.</a:t>
            </a:r>
          </a:p>
        </p:txBody>
      </p:sp>
      <p:sp>
        <p:nvSpPr>
          <p:cNvPr id="15455" name="Text 56">
            <a:extLst>
              <a:ext uri="{FF2B5EF4-FFF2-40B4-BE49-F238E27FC236}">
                <a16:creationId xmlns:a16="http://schemas.microsoft.com/office/drawing/2014/main" id="{9CA6A555-7580-9F61-5935-A58D25719E78}"/>
              </a:ext>
            </a:extLst>
          </p:cNvPr>
          <p:cNvSpPr txBox="1"/>
          <p:nvPr/>
        </p:nvSpPr>
        <p:spPr>
          <a:xfrm>
            <a:off x="2832466" y="5783314"/>
            <a:ext cx="320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600" b="1" i="0" u="none" strike="noStrike" kern="1200" cap="none" spc="0" normalizeH="0" baseline="0" noProof="0" dirty="0">
                <a:ln>
                  <a:noFill/>
                </a:ln>
                <a:solidFill>
                  <a:srgbClr val="1C7293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»</a:t>
            </a:r>
            <a:endParaRPr kumimoji="0" lang="en-US" sz="26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456" name="Shape 57">
            <a:extLst>
              <a:ext uri="{FF2B5EF4-FFF2-40B4-BE49-F238E27FC236}">
                <a16:creationId xmlns:a16="http://schemas.microsoft.com/office/drawing/2014/main" id="{9B6DFC0C-153A-7037-04FA-BBA532DF6104}"/>
              </a:ext>
            </a:extLst>
          </p:cNvPr>
          <p:cNvSpPr/>
          <p:nvPr/>
        </p:nvSpPr>
        <p:spPr>
          <a:xfrm>
            <a:off x="3134218" y="5508994"/>
            <a:ext cx="2514600" cy="1188720"/>
          </a:xfrm>
          <a:prstGeom prst="roundRect">
            <a:avLst>
              <a:gd name="adj" fmla="val 5385"/>
            </a:avLst>
          </a:prstGeom>
          <a:solidFill>
            <a:srgbClr val="EAF2FA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001" sz="1800" b="0" i="0" u="none" strike="noStrike" kern="120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457" name="Text 58">
            <a:extLst>
              <a:ext uri="{FF2B5EF4-FFF2-40B4-BE49-F238E27FC236}">
                <a16:creationId xmlns:a16="http://schemas.microsoft.com/office/drawing/2014/main" id="{C64AAA56-9A49-0E35-BCEF-32B525E72006}"/>
              </a:ext>
            </a:extLst>
          </p:cNvPr>
          <p:cNvSpPr txBox="1"/>
          <p:nvPr/>
        </p:nvSpPr>
        <p:spPr>
          <a:xfrm>
            <a:off x="3271377" y="5582146"/>
            <a:ext cx="2373001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Loudspeaker / Siren Systems</a:t>
            </a:r>
          </a:p>
        </p:txBody>
      </p:sp>
      <p:sp>
        <p:nvSpPr>
          <p:cNvPr id="15458" name="Text 59">
            <a:extLst>
              <a:ext uri="{FF2B5EF4-FFF2-40B4-BE49-F238E27FC236}">
                <a16:creationId xmlns:a16="http://schemas.microsoft.com/office/drawing/2014/main" id="{1A9B9BFB-3939-5EC1-17C4-280E69F0AC0B}"/>
              </a:ext>
            </a:extLst>
          </p:cNvPr>
          <p:cNvSpPr txBox="1"/>
          <p:nvPr/>
        </p:nvSpPr>
        <p:spPr>
          <a:xfrm>
            <a:off x="3271378" y="5911330"/>
            <a:ext cx="22402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1" i="1" u="none" strike="noStrike" kern="1200" cap="none" spc="0" normalizeH="0" baseline="0" noProof="0" dirty="0">
                <a:ln>
                  <a:noFill/>
                </a:ln>
                <a:solidFill>
                  <a:srgbClr val="1C7293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Strength: </a:t>
            </a: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5A6B7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Simple, low-tech setup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1" i="1" u="none" strike="noStrike" kern="1200" cap="none" spc="0" normalizeH="0" baseline="0" noProof="0" dirty="0">
                <a:ln>
                  <a:noFill/>
                </a:ln>
                <a:solidFill>
                  <a:srgbClr val="FF6B35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Weakness: </a:t>
            </a: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5A6B7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No auto-trigger — slow, human-dependent response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459" name="Text 60">
            <a:extLst>
              <a:ext uri="{FF2B5EF4-FFF2-40B4-BE49-F238E27FC236}">
                <a16:creationId xmlns:a16="http://schemas.microsoft.com/office/drawing/2014/main" id="{2C1064AC-22FC-562A-9B03-6F372CC7120C}"/>
              </a:ext>
            </a:extLst>
          </p:cNvPr>
          <p:cNvSpPr txBox="1"/>
          <p:nvPr/>
        </p:nvSpPr>
        <p:spPr>
          <a:xfrm>
            <a:off x="5667106" y="5783314"/>
            <a:ext cx="320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600" b="1" i="0" u="none" strike="noStrike" kern="1200" cap="none" spc="0" normalizeH="0" baseline="0" noProof="0" dirty="0">
                <a:ln>
                  <a:noFill/>
                </a:ln>
                <a:solidFill>
                  <a:srgbClr val="1C7293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»</a:t>
            </a:r>
            <a:endParaRPr kumimoji="0" lang="en-US" sz="26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460" name="Shape 61">
            <a:extLst>
              <a:ext uri="{FF2B5EF4-FFF2-40B4-BE49-F238E27FC236}">
                <a16:creationId xmlns:a16="http://schemas.microsoft.com/office/drawing/2014/main" id="{89689BAD-1B76-4005-079A-E73064CA7A39}"/>
              </a:ext>
            </a:extLst>
          </p:cNvPr>
          <p:cNvSpPr/>
          <p:nvPr/>
        </p:nvSpPr>
        <p:spPr>
          <a:xfrm>
            <a:off x="5968858" y="5508994"/>
            <a:ext cx="2514600" cy="1188720"/>
          </a:xfrm>
          <a:prstGeom prst="roundRect">
            <a:avLst>
              <a:gd name="adj" fmla="val 5385"/>
            </a:avLst>
          </a:prstGeom>
          <a:solidFill>
            <a:srgbClr val="13315C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001" sz="1800" b="0" i="0" u="none" strike="noStrike" kern="120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461" name="Text 62">
            <a:extLst>
              <a:ext uri="{FF2B5EF4-FFF2-40B4-BE49-F238E27FC236}">
                <a16:creationId xmlns:a16="http://schemas.microsoft.com/office/drawing/2014/main" id="{9DB57A18-84BF-50C8-BD8D-CC294D66B70B}"/>
              </a:ext>
            </a:extLst>
          </p:cNvPr>
          <p:cNvSpPr txBox="1"/>
          <p:nvPr/>
        </p:nvSpPr>
        <p:spPr>
          <a:xfrm>
            <a:off x="6106018" y="5600434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Zero-Touch Citizen Siren PWA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462" name="Text 63">
            <a:extLst>
              <a:ext uri="{FF2B5EF4-FFF2-40B4-BE49-F238E27FC236}">
                <a16:creationId xmlns:a16="http://schemas.microsoft.com/office/drawing/2014/main" id="{7014CE21-D191-188E-75B7-CF0E6640510E}"/>
              </a:ext>
            </a:extLst>
          </p:cNvPr>
          <p:cNvSpPr txBox="1"/>
          <p:nvPr/>
        </p:nvSpPr>
        <p:spPr>
          <a:xfrm>
            <a:off x="6106018" y="5929618"/>
            <a:ext cx="22402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marR="0" lvl="0" indent="-342900" algn="l" defTabSz="914400" rtl="0" eaLnBrk="1" fontAlgn="auto" latinLnBrk="0" hangingPunct="1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  <a:buClrTx/>
              <a:buSzPct val="100000"/>
              <a:buFontTx/>
              <a:buChar char="▪"/>
              <a:tabLst/>
              <a:defRPr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Bypasses Silent/DND modes</a:t>
            </a:r>
          </a:p>
          <a:p>
            <a:pPr marL="342900" marR="0" lvl="0" indent="-342900" algn="l" defTabSz="914400" rtl="0" eaLnBrk="1" fontAlgn="auto" latinLnBrk="0" hangingPunct="1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  <a:buClrTx/>
              <a:buSzPct val="100000"/>
              <a:buFontTx/>
              <a:buChar char="▪"/>
              <a:tabLst/>
              <a:defRPr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Hindi voice evacuation alerts</a:t>
            </a:r>
          </a:p>
          <a:p>
            <a:pPr marL="342900" marR="0" lvl="0" indent="-342900" algn="l" defTabSz="914400" rtl="0" eaLnBrk="1" fontAlgn="auto" latinLnBrk="0" hangingPunct="1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  <a:buClrTx/>
              <a:buSzPct val="100000"/>
              <a:buFontTx/>
              <a:buChar char="▪"/>
              <a:tabLst/>
              <a:defRPr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Sub-1.5s trigger to 120dB siren</a:t>
            </a:r>
          </a:p>
        </p:txBody>
      </p:sp>
      <p:pic>
        <p:nvPicPr>
          <p:cNvPr id="15463" name="Picture 15462">
            <a:extLst>
              <a:ext uri="{FF2B5EF4-FFF2-40B4-BE49-F238E27FC236}">
                <a16:creationId xmlns:a16="http://schemas.microsoft.com/office/drawing/2014/main" id="{55AB53EA-1939-8823-1C8F-9AEDECB4B0F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47621" y="947846"/>
            <a:ext cx="2844800" cy="2787212"/>
          </a:xfrm>
          <a:prstGeom prst="rect">
            <a:avLst/>
          </a:prstGeom>
        </p:spPr>
      </p:pic>
      <p:cxnSp>
        <p:nvCxnSpPr>
          <p:cNvPr id="15464" name="Spine Line">
            <a:extLst>
              <a:ext uri="{FF2B5EF4-FFF2-40B4-BE49-F238E27FC236}">
                <a16:creationId xmlns:a16="http://schemas.microsoft.com/office/drawing/2014/main" id="{56B7414E-6262-7A62-778A-8FBBA5F75B68}"/>
              </a:ext>
            </a:extLst>
          </p:cNvPr>
          <p:cNvCxnSpPr/>
          <p:nvPr/>
        </p:nvCxnSpPr>
        <p:spPr>
          <a:xfrm>
            <a:off x="9474341" y="3897110"/>
            <a:ext cx="0" cy="2430000"/>
          </a:xfrm>
          <a:prstGeom prst="line">
            <a:avLst/>
          </a:prstGeom>
          <a:ln w="19050">
            <a:solidFill>
              <a:srgbClr val="0B2545"/>
            </a:solidFill>
          </a:ln>
        </p:spPr>
      </p:cxnSp>
      <p:cxnSp>
        <p:nvCxnSpPr>
          <p:cNvPr id="15465" name="Connector To Circle">
            <a:extLst>
              <a:ext uri="{FF2B5EF4-FFF2-40B4-BE49-F238E27FC236}">
                <a16:creationId xmlns:a16="http://schemas.microsoft.com/office/drawing/2014/main" id="{5C0D928C-5ABE-8152-84C0-88F5316FDB65}"/>
              </a:ext>
            </a:extLst>
          </p:cNvPr>
          <p:cNvCxnSpPr/>
          <p:nvPr/>
        </p:nvCxnSpPr>
        <p:spPr>
          <a:xfrm>
            <a:off x="9474341" y="5139110"/>
            <a:ext cx="957744" cy="0"/>
          </a:xfrm>
          <a:prstGeom prst="line">
            <a:avLst/>
          </a:prstGeom>
          <a:ln w="19050">
            <a:solidFill>
              <a:srgbClr val="0B2545"/>
            </a:solidFill>
          </a:ln>
        </p:spPr>
      </p:cxnSp>
      <p:cxnSp>
        <p:nvCxnSpPr>
          <p:cNvPr id="15466" name="Tick 1">
            <a:extLst>
              <a:ext uri="{FF2B5EF4-FFF2-40B4-BE49-F238E27FC236}">
                <a16:creationId xmlns:a16="http://schemas.microsoft.com/office/drawing/2014/main" id="{A8280D00-42B2-4E22-97F3-16C23DA472CE}"/>
              </a:ext>
            </a:extLst>
          </p:cNvPr>
          <p:cNvCxnSpPr/>
          <p:nvPr/>
        </p:nvCxnSpPr>
        <p:spPr>
          <a:xfrm>
            <a:off x="9474341" y="3897110"/>
            <a:ext cx="284480" cy="0"/>
          </a:xfrm>
          <a:prstGeom prst="line">
            <a:avLst/>
          </a:prstGeom>
          <a:ln w="19050">
            <a:solidFill>
              <a:srgbClr val="0B2545"/>
            </a:solidFill>
            <a:tailEnd type="triangle" w="med" len="med"/>
          </a:ln>
        </p:spPr>
      </p:cxnSp>
      <p:cxnSp>
        <p:nvCxnSpPr>
          <p:cNvPr id="15467" name="Tick 2">
            <a:extLst>
              <a:ext uri="{FF2B5EF4-FFF2-40B4-BE49-F238E27FC236}">
                <a16:creationId xmlns:a16="http://schemas.microsoft.com/office/drawing/2014/main" id="{40AA514C-D12B-D302-ECDF-51CDA2FB3410}"/>
              </a:ext>
            </a:extLst>
          </p:cNvPr>
          <p:cNvCxnSpPr/>
          <p:nvPr/>
        </p:nvCxnSpPr>
        <p:spPr>
          <a:xfrm>
            <a:off x="9474341" y="4329110"/>
            <a:ext cx="284480" cy="0"/>
          </a:xfrm>
          <a:prstGeom prst="line">
            <a:avLst/>
          </a:prstGeom>
          <a:ln w="19050">
            <a:solidFill>
              <a:srgbClr val="0B2545"/>
            </a:solidFill>
            <a:tailEnd type="triangle" w="med" len="med"/>
          </a:ln>
        </p:spPr>
      </p:cxnSp>
      <p:cxnSp>
        <p:nvCxnSpPr>
          <p:cNvPr id="15468" name="Tick 3">
            <a:extLst>
              <a:ext uri="{FF2B5EF4-FFF2-40B4-BE49-F238E27FC236}">
                <a16:creationId xmlns:a16="http://schemas.microsoft.com/office/drawing/2014/main" id="{ED8EA14A-550D-1D5E-76E5-5F452EEC4B21}"/>
              </a:ext>
            </a:extLst>
          </p:cNvPr>
          <p:cNvCxnSpPr/>
          <p:nvPr/>
        </p:nvCxnSpPr>
        <p:spPr>
          <a:xfrm>
            <a:off x="9474341" y="5949110"/>
            <a:ext cx="284480" cy="0"/>
          </a:xfrm>
          <a:prstGeom prst="line">
            <a:avLst/>
          </a:prstGeom>
          <a:ln w="19050">
            <a:solidFill>
              <a:srgbClr val="0B2545"/>
            </a:solidFill>
            <a:tailEnd type="triangle" w="med" len="med"/>
          </a:ln>
        </p:spPr>
      </p:cxnSp>
      <p:cxnSp>
        <p:nvCxnSpPr>
          <p:cNvPr id="15469" name="Tick 4">
            <a:extLst>
              <a:ext uri="{FF2B5EF4-FFF2-40B4-BE49-F238E27FC236}">
                <a16:creationId xmlns:a16="http://schemas.microsoft.com/office/drawing/2014/main" id="{B4E5DC84-393A-CC55-F177-5672CF8820C3}"/>
              </a:ext>
            </a:extLst>
          </p:cNvPr>
          <p:cNvCxnSpPr/>
          <p:nvPr/>
        </p:nvCxnSpPr>
        <p:spPr>
          <a:xfrm>
            <a:off x="9474341" y="6327110"/>
            <a:ext cx="284480" cy="0"/>
          </a:xfrm>
          <a:prstGeom prst="line">
            <a:avLst/>
          </a:prstGeom>
          <a:ln w="19050">
            <a:solidFill>
              <a:srgbClr val="0B2545"/>
            </a:solidFill>
            <a:tailEnd type="triangle" w="med" len="med"/>
          </a:ln>
        </p:spPr>
      </p:cxnSp>
      <p:sp>
        <p:nvSpPr>
          <p:cNvPr id="15470" name="Label 1">
            <a:extLst>
              <a:ext uri="{FF2B5EF4-FFF2-40B4-BE49-F238E27FC236}">
                <a16:creationId xmlns:a16="http://schemas.microsoft.com/office/drawing/2014/main" id="{C46954AA-F346-C37D-F509-EA4B9C6BC142}"/>
              </a:ext>
            </a:extLst>
          </p:cNvPr>
          <p:cNvSpPr txBox="1"/>
          <p:nvPr/>
        </p:nvSpPr>
        <p:spPr>
          <a:xfrm>
            <a:off x="9798821" y="3747110"/>
            <a:ext cx="2053600" cy="3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5000"/>
              </a:lnSpc>
              <a:buNone/>
            </a:pPr>
            <a:r>
              <a:rPr lang="en-US" sz="1000" b="1" dirty="0">
                <a:solidFill>
                  <a:srgbClr val="0B2545"/>
                </a:solidFill>
                <a:latin typeface="Calibri" pitchFamily="34" charset="0"/>
              </a:rPr>
              <a:t>Verified Radar Intelligence</a:t>
            </a:r>
          </a:p>
        </p:txBody>
      </p:sp>
      <p:sp>
        <p:nvSpPr>
          <p:cNvPr id="15471" name="Label 2">
            <a:extLst>
              <a:ext uri="{FF2B5EF4-FFF2-40B4-BE49-F238E27FC236}">
                <a16:creationId xmlns:a16="http://schemas.microsoft.com/office/drawing/2014/main" id="{2903D1FE-7B7A-87FF-E72C-D7D45C35E55B}"/>
              </a:ext>
            </a:extLst>
          </p:cNvPr>
          <p:cNvSpPr txBox="1"/>
          <p:nvPr/>
        </p:nvSpPr>
        <p:spPr>
          <a:xfrm>
            <a:off x="9798821" y="4179110"/>
            <a:ext cx="2053600" cy="3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5000"/>
              </a:lnSpc>
              <a:buNone/>
            </a:pPr>
            <a:r>
              <a:rPr lang="en-US" sz="1000" b="1" dirty="0">
                <a:solidFill>
                  <a:srgbClr val="0B2545"/>
                </a:solidFill>
                <a:latin typeface="Calibri" pitchFamily="34" charset="0"/>
              </a:rPr>
              <a:t>Zero-Alarm Prediction</a:t>
            </a:r>
          </a:p>
        </p:txBody>
      </p:sp>
      <p:sp>
        <p:nvSpPr>
          <p:cNvPr id="15472" name="Label 3">
            <a:extLst>
              <a:ext uri="{FF2B5EF4-FFF2-40B4-BE49-F238E27FC236}">
                <a16:creationId xmlns:a16="http://schemas.microsoft.com/office/drawing/2014/main" id="{4AF6094D-2BF7-5EFC-51AE-3014E6A88098}"/>
              </a:ext>
            </a:extLst>
          </p:cNvPr>
          <p:cNvSpPr txBox="1"/>
          <p:nvPr/>
        </p:nvSpPr>
        <p:spPr>
          <a:xfrm>
            <a:off x="9798821" y="5799110"/>
            <a:ext cx="2053600" cy="3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5000"/>
              </a:lnSpc>
              <a:buNone/>
            </a:pPr>
            <a:r>
              <a:rPr lang="en-US" sz="1000" b="1" dirty="0">
                <a:solidFill>
                  <a:srgbClr val="0B2545"/>
                </a:solidFill>
                <a:latin typeface="Calibri" pitchFamily="34" charset="0"/>
              </a:rPr>
              <a:t>Off-Grid Alert Network</a:t>
            </a:r>
          </a:p>
        </p:txBody>
      </p:sp>
      <p:sp>
        <p:nvSpPr>
          <p:cNvPr id="15473" name="Label 4">
            <a:extLst>
              <a:ext uri="{FF2B5EF4-FFF2-40B4-BE49-F238E27FC236}">
                <a16:creationId xmlns:a16="http://schemas.microsoft.com/office/drawing/2014/main" id="{372F7717-E961-A112-4F46-78964A17C381}"/>
              </a:ext>
            </a:extLst>
          </p:cNvPr>
          <p:cNvSpPr txBox="1"/>
          <p:nvPr/>
        </p:nvSpPr>
        <p:spPr>
          <a:xfrm>
            <a:off x="9798821" y="6177110"/>
            <a:ext cx="2053600" cy="3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5000"/>
              </a:lnSpc>
              <a:buNone/>
            </a:pPr>
            <a:r>
              <a:rPr lang="en-US" sz="1000" b="1" dirty="0">
                <a:solidFill>
                  <a:srgbClr val="0B2545"/>
                </a:solidFill>
                <a:latin typeface="Calibri" pitchFamily="34" charset="0"/>
              </a:rPr>
              <a:t>Bridge &amp; Infra Protection</a:t>
            </a:r>
          </a:p>
        </p:txBody>
      </p:sp>
      <p:sp>
        <p:nvSpPr>
          <p:cNvPr id="15474" name="Platform Circle">
            <a:extLst>
              <a:ext uri="{FF2B5EF4-FFF2-40B4-BE49-F238E27FC236}">
                <a16:creationId xmlns:a16="http://schemas.microsoft.com/office/drawing/2014/main" id="{CE3DEA1B-97F1-36B7-8E92-4E204331BA79}"/>
              </a:ext>
            </a:extLst>
          </p:cNvPr>
          <p:cNvSpPr/>
          <p:nvPr/>
        </p:nvSpPr>
        <p:spPr>
          <a:xfrm>
            <a:off x="10432084" y="4589109"/>
            <a:ext cx="1253927" cy="1131999"/>
          </a:xfrm>
          <a:prstGeom prst="ellipse">
            <a:avLst/>
          </a:prstGeom>
          <a:solidFill>
            <a:srgbClr val="EAF2FA"/>
          </a:solidFill>
          <a:ln w="25400">
            <a:solidFill>
              <a:srgbClr val="0B2545"/>
            </a:solidFill>
          </a:ln>
        </p:spPr>
        <p:txBody>
          <a:bodyPr wrap="square" lIns="45720" tIns="25400" rIns="45720" bIns="2540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05000"/>
              </a:lnSpc>
            </a:pPr>
            <a:r>
              <a:rPr lang="en-US" sz="1050" b="1" dirty="0" err="1">
                <a:solidFill>
                  <a:srgbClr val="0B2545"/>
                </a:solidFill>
                <a:latin typeface="Calibri" pitchFamily="34" charset="0"/>
              </a:rPr>
              <a:t>GeoResilience</a:t>
            </a:r>
            <a:r>
              <a:rPr lang="en-US" sz="1050" b="1" dirty="0">
                <a:solidFill>
                  <a:srgbClr val="0B2545"/>
                </a:solidFill>
                <a:latin typeface="Calibri" pitchFamily="34" charset="0"/>
              </a:rPr>
              <a:t> AI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object 13">
            <a:extLst>
              <a:ext uri="{FF2B5EF4-FFF2-40B4-BE49-F238E27FC236}">
                <a16:creationId xmlns:a16="http://schemas.microsoft.com/office/drawing/2014/main" id="{BFDE5D24-D792-6A08-E1B8-DE61DBD0E025}"/>
              </a:ext>
            </a:extLst>
          </p:cNvPr>
          <p:cNvSpPr/>
          <p:nvPr/>
        </p:nvSpPr>
        <p:spPr>
          <a:xfrm>
            <a:off x="7285703" y="1018093"/>
            <a:ext cx="4782282" cy="4534562"/>
          </a:xfrm>
          <a:custGeom>
            <a:avLst/>
            <a:gdLst/>
            <a:ahLst/>
            <a:cxnLst/>
            <a:rect l="l" t="t" r="r" b="b"/>
            <a:pathLst>
              <a:path w="8072755" h="5083809">
                <a:moveTo>
                  <a:pt x="0" y="0"/>
                </a:moveTo>
                <a:lnTo>
                  <a:pt x="8072436" y="0"/>
                </a:lnTo>
                <a:lnTo>
                  <a:pt x="8072436" y="5083739"/>
                </a:lnTo>
                <a:lnTo>
                  <a:pt x="0" y="5083739"/>
                </a:lnTo>
                <a:lnTo>
                  <a:pt x="0" y="0"/>
                </a:lnTo>
                <a:close/>
              </a:path>
            </a:pathLst>
          </a:custGeom>
          <a:ln w="1714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1" name="object 12">
            <a:extLst>
              <a:ext uri="{FF2B5EF4-FFF2-40B4-BE49-F238E27FC236}">
                <a16:creationId xmlns:a16="http://schemas.microsoft.com/office/drawing/2014/main" id="{46369A83-F489-7313-81BE-7BE48742357F}"/>
              </a:ext>
            </a:extLst>
          </p:cNvPr>
          <p:cNvSpPr/>
          <p:nvPr/>
        </p:nvSpPr>
        <p:spPr>
          <a:xfrm>
            <a:off x="7304531" y="1034973"/>
            <a:ext cx="4763454" cy="4517681"/>
          </a:xfrm>
          <a:custGeom>
            <a:avLst/>
            <a:gdLst/>
            <a:ahLst/>
            <a:cxnLst/>
            <a:rect l="l" t="t" r="r" b="b"/>
            <a:pathLst>
              <a:path w="8072755" h="5084445">
                <a:moveTo>
                  <a:pt x="8072570" y="5083824"/>
                </a:moveTo>
                <a:lnTo>
                  <a:pt x="0" y="5083824"/>
                </a:lnTo>
                <a:lnTo>
                  <a:pt x="0" y="0"/>
                </a:lnTo>
                <a:lnTo>
                  <a:pt x="8072570" y="0"/>
                </a:lnTo>
                <a:lnTo>
                  <a:pt x="8072570" y="5083824"/>
                </a:lnTo>
                <a:close/>
              </a:path>
            </a:pathLst>
          </a:custGeom>
          <a:solidFill>
            <a:srgbClr val="DBE6F1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2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TECHNICAL APPROACH</a:t>
            </a:r>
          </a:p>
        </p:txBody>
      </p:sp>
      <p:sp>
        <p:nvSpPr>
          <p:cNvPr id="11" name="Oval 10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141515" y="128016"/>
            <a:ext cx="1632422" cy="804176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Runtime Terror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2E3D6E98-3695-8C9C-CE49-2BF885640E9E}"/>
              </a:ext>
            </a:extLst>
          </p:cNvPr>
          <p:cNvSpPr txBox="1"/>
          <p:nvPr/>
        </p:nvSpPr>
        <p:spPr>
          <a:xfrm>
            <a:off x="7355794" y="1094876"/>
            <a:ext cx="4721605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2000" b="1" u="sng" dirty="0"/>
              <a:t>ARCHITECTURE</a:t>
            </a:r>
          </a:p>
          <a:p>
            <a:pPr marL="171450" indent="-171450">
              <a:buFont typeface="Wingdings" panose="05000000000000000000" pitchFamily="2" charset="2"/>
              <a:buChar char="ü"/>
            </a:pPr>
            <a:r>
              <a:rPr lang="en-US" sz="1200" u="sng" dirty="0">
                <a:latin typeface="Book Antiqua" panose="02040602050305030304" pitchFamily="18" charset="0"/>
              </a:rPr>
              <a:t>Multi-Source Data Ingestion</a:t>
            </a:r>
            <a:r>
              <a:rPr lang="en-IN" sz="1200" dirty="0"/>
              <a:t>: </a:t>
            </a:r>
            <a:r>
              <a:rPr lang="en-US" sz="1200" dirty="0">
                <a:ea typeface="Calibri" panose="020F0502020204030204" pitchFamily="34" charset="0"/>
                <a:cs typeface="Calibri" panose="020F0502020204030204" pitchFamily="34" charset="0"/>
              </a:rPr>
              <a:t>Collects live telemetry from 8 IoT stations, IMD weather, NASA GPM satellite rain, and ISRO </a:t>
            </a:r>
            <a:r>
              <a:rPr lang="en-US" sz="1200" dirty="0" err="1">
                <a:ea typeface="Calibri" panose="020F0502020204030204" pitchFamily="34" charset="0"/>
                <a:cs typeface="Calibri" panose="020F0502020204030204" pitchFamily="34" charset="0"/>
              </a:rPr>
              <a:t>Cartosat</a:t>
            </a:r>
            <a:r>
              <a:rPr lang="en-US" sz="1200" dirty="0">
                <a:ea typeface="Calibri" panose="020F0502020204030204" pitchFamily="34" charset="0"/>
                <a:cs typeface="Calibri" panose="020F0502020204030204" pitchFamily="34" charset="0"/>
              </a:rPr>
              <a:t> DEM</a:t>
            </a:r>
            <a:endParaRPr lang="en-IN" sz="1200" dirty="0"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171450" indent="-171450">
              <a:buFont typeface="Wingdings" panose="05000000000000000000" pitchFamily="2" charset="2"/>
              <a:buChar char="ü"/>
            </a:pPr>
            <a:r>
              <a:rPr lang="en-US" sz="1200" u="sng" dirty="0">
                <a:latin typeface="Book Antiqua" panose="02040602050305030304" pitchFamily="18" charset="0"/>
              </a:rPr>
              <a:t>Physics-AI Fusion Engine</a:t>
            </a:r>
            <a:r>
              <a:rPr lang="en-US" sz="1200" dirty="0"/>
              <a:t>: Runs Green-</a:t>
            </a:r>
            <a:r>
              <a:rPr lang="en-US" sz="1200" dirty="0" err="1"/>
              <a:t>Ampt</a:t>
            </a:r>
            <a:r>
              <a:rPr lang="en-US" sz="1200" dirty="0"/>
              <a:t> infiltration and Mohr-Coulomb slope stability on PINN core to compute Factor of Safety (Fs).</a:t>
            </a:r>
          </a:p>
          <a:p>
            <a:pPr marL="171450" indent="-171450">
              <a:buFont typeface="Wingdings" panose="05000000000000000000" pitchFamily="2" charset="2"/>
              <a:buChar char="ü"/>
            </a:pPr>
            <a:r>
              <a:rPr lang="en-US" sz="1200" u="sng" dirty="0">
                <a:latin typeface="Book Antiqua" panose="02040602050305030304" pitchFamily="18" charset="0"/>
              </a:rPr>
              <a:t>1D Hydrodynamic Wave Routing</a:t>
            </a:r>
            <a:r>
              <a:rPr lang="en-US" sz="1200" dirty="0"/>
              <a:t>: Solves 1D St. </a:t>
            </a:r>
            <a:r>
              <a:rPr lang="en-US" sz="1200" dirty="0" err="1"/>
              <a:t>Venant</a:t>
            </a:r>
            <a:r>
              <a:rPr lang="en-US" sz="1200" dirty="0"/>
              <a:t> shallow water wave speed and Manning discharge to calculate exact evacuation lead times.</a:t>
            </a:r>
          </a:p>
          <a:p>
            <a:pPr marL="171450" indent="-171450">
              <a:buFont typeface="Wingdings" panose="05000000000000000000" pitchFamily="2" charset="2"/>
              <a:buChar char="ü"/>
            </a:pPr>
            <a:r>
              <a:rPr lang="en-US" sz="1200" u="sng" dirty="0">
                <a:latin typeface="Book Antiqua" panose="02040602050305030304" pitchFamily="18" charset="0"/>
              </a:rPr>
              <a:t>Standardized Alerting</a:t>
            </a:r>
            <a:r>
              <a:rPr lang="en-US" sz="1200" dirty="0"/>
              <a:t>: Dispatches NDMA CAP v1.2 XML emergency alerts and triggers offline 868 MHz LoRa mesh sirens in &lt; 1.5s.</a:t>
            </a:r>
            <a:endParaRPr lang="en-IN" sz="1200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534B952A-C60B-A9C3-5FFE-41BC7996C3A4}"/>
              </a:ext>
            </a:extLst>
          </p:cNvPr>
          <p:cNvSpPr txBox="1"/>
          <p:nvPr/>
        </p:nvSpPr>
        <p:spPr>
          <a:xfrm>
            <a:off x="7327151" y="3408282"/>
            <a:ext cx="4685195" cy="2062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2000" b="1" u="sng" dirty="0"/>
              <a:t>COMPONENTS</a:t>
            </a:r>
            <a:endParaRPr lang="en-IN" sz="1200" b="1" u="sng" dirty="0"/>
          </a:p>
          <a:p>
            <a:pPr marL="171450" indent="-171450">
              <a:buFont typeface="Wingdings" panose="05000000000000000000" pitchFamily="2" charset="2"/>
              <a:buChar char="ü"/>
            </a:pPr>
            <a:r>
              <a:rPr lang="en-US" sz="1200" u="sng" dirty="0">
                <a:latin typeface="Book Antiqua" panose="02040602050305030304" pitchFamily="18" charset="0"/>
              </a:rPr>
              <a:t>Operational Command Console</a:t>
            </a:r>
            <a:r>
              <a:rPr lang="en-US" sz="1200" dirty="0"/>
              <a:t>: Built with React 19 &amp; Leaflet GIS, displays dynamic Red Zones, 6 habitations, and GLOF lake watch.</a:t>
            </a:r>
          </a:p>
          <a:p>
            <a:pPr marL="171450" indent="-171450">
              <a:buFont typeface="Wingdings" panose="05000000000000000000" pitchFamily="2" charset="2"/>
              <a:buChar char="ü"/>
            </a:pPr>
            <a:r>
              <a:rPr lang="en-US" sz="1200" u="sng" dirty="0" err="1">
                <a:latin typeface="Book Antiqua" panose="02040602050305030304" pitchFamily="18" charset="0"/>
              </a:rPr>
              <a:t>FastAPI</a:t>
            </a:r>
            <a:r>
              <a:rPr lang="en-US" sz="1200" u="sng" dirty="0">
                <a:latin typeface="Book Antiqua" panose="02040602050305030304" pitchFamily="18" charset="0"/>
              </a:rPr>
              <a:t> Backend Bus</a:t>
            </a:r>
            <a:r>
              <a:rPr lang="en-US" sz="1200" dirty="0"/>
              <a:t>: High-speed asynchronous Python engine managing WebSocket telemetry and scenario state synchronization.</a:t>
            </a:r>
          </a:p>
          <a:p>
            <a:pPr marL="171450" indent="-171450">
              <a:buFont typeface="Wingdings" panose="05000000000000000000" pitchFamily="2" charset="2"/>
              <a:buChar char="ü"/>
            </a:pPr>
            <a:r>
              <a:rPr lang="en-US" sz="1200" u="sng" dirty="0">
                <a:latin typeface="Book Antiqua" panose="02040602050305030304" pitchFamily="18" charset="0"/>
              </a:rPr>
              <a:t>PINN Physics Core</a:t>
            </a:r>
            <a:r>
              <a:rPr lang="en-US" sz="1200" dirty="0"/>
              <a:t>: Embedded geotechnical and hydrodynamic equations ensuring zero unphysical hallucinations (R² = 0.9997).</a:t>
            </a:r>
          </a:p>
          <a:p>
            <a:pPr marL="171450" indent="-171450">
              <a:buFont typeface="Wingdings" panose="05000000000000000000" pitchFamily="2" charset="2"/>
              <a:buChar char="ü"/>
            </a:pPr>
            <a:r>
              <a:rPr lang="en-US" sz="1200" u="sng" dirty="0">
                <a:latin typeface="Book Antiqua" panose="02040602050305030304" pitchFamily="18" charset="0"/>
              </a:rPr>
              <a:t>SHAP Explainability Engine</a:t>
            </a:r>
            <a:r>
              <a:rPr lang="en-US" sz="1200" dirty="0"/>
              <a:t>: Quantifies feature contributions to give evidence-backed disaster drivers for disaster managers.</a:t>
            </a:r>
          </a:p>
          <a:p>
            <a:pPr marL="171450" indent="-171450">
              <a:buFont typeface="Wingdings" panose="05000000000000000000" pitchFamily="2" charset="2"/>
              <a:buChar char="ü"/>
            </a:pPr>
            <a:r>
              <a:rPr lang="en-US" sz="1200" dirty="0">
                <a:ea typeface="Calibri" panose="020F0502020204030204" pitchFamily="34" charset="0"/>
                <a:cs typeface="Calibri" panose="020F0502020204030204" pitchFamily="34" charset="0"/>
              </a:rPr>
              <a:t>Zero-internet solar LoRa mesh triggers sirens during blackouts.</a:t>
            </a:r>
            <a:endParaRPr lang="en-IN" sz="12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273E150-91AF-FF7C-4506-25E8FA6159E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080325"/>
            <a:ext cx="7197213" cy="468632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9C3CB46-87BD-4DD4-20F1-825A659967B4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231" t="13647" b="15807"/>
          <a:stretch>
            <a:fillRect/>
          </a:stretch>
        </p:blipFill>
        <p:spPr>
          <a:xfrm>
            <a:off x="141515" y="5914782"/>
            <a:ext cx="11870831" cy="886121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755FF5C5-58C7-D7D0-B8CF-0E6B0CD42C2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09642" y="17989"/>
            <a:ext cx="1824957" cy="8617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96590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605754"/>
            <a:ext cx="12191999" cy="252245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2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FEASIBILITY AND VIABILITY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347199" y="6538915"/>
            <a:ext cx="2844800" cy="365125"/>
          </a:xfrm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241283" y="93464"/>
            <a:ext cx="1430201" cy="673310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Runtime Terror</a:t>
            </a: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CCB7E144-FDF7-33FB-0C0D-47E7F2069673}"/>
              </a:ext>
            </a:extLst>
          </p:cNvPr>
          <p:cNvSpPr/>
          <p:nvPr/>
        </p:nvSpPr>
        <p:spPr>
          <a:xfrm>
            <a:off x="131972" y="1098478"/>
            <a:ext cx="4422961" cy="1286592"/>
          </a:xfrm>
          <a:prstGeom prst="rect">
            <a:avLst/>
          </a:prstGeom>
          <a:solidFill>
            <a:srgbClr val="DBE6F1"/>
          </a:solidFill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u="sng" dirty="0">
                <a:solidFill>
                  <a:srgbClr val="F97316"/>
                </a:solidFill>
              </a:rPr>
              <a:t>• Open-Access Space Radar:</a:t>
            </a:r>
            <a:r>
              <a:rPr lang="en-US" sz="1200" dirty="0">
                <a:solidFill>
                  <a:schemeClr val="tx1"/>
                </a:solidFill>
              </a:rPr>
              <a:t> Utilizes free Sentinel-1 SAR and NASA GPM IMERG feeds, eliminating recurring software/data licensing costs (₹0 Data </a:t>
            </a:r>
            <a:r>
              <a:rPr lang="en-US" sz="1200" dirty="0" err="1">
                <a:solidFill>
                  <a:schemeClr val="tx1"/>
                </a:solidFill>
              </a:rPr>
              <a:t>OpEx</a:t>
            </a:r>
            <a:r>
              <a:rPr lang="en-US" sz="1200" dirty="0">
                <a:solidFill>
                  <a:schemeClr val="tx1"/>
                </a:solidFill>
              </a:rPr>
              <a:t>).</a:t>
            </a:r>
          </a:p>
          <a:p>
            <a:r>
              <a:rPr lang="en-US" sz="1400" u="sng" dirty="0">
                <a:solidFill>
                  <a:srgbClr val="F97316"/>
                </a:solidFill>
              </a:rPr>
              <a:t>• Lightweight Physics AI:</a:t>
            </a:r>
            <a:r>
              <a:rPr lang="en-US" sz="1200" dirty="0">
                <a:solidFill>
                  <a:schemeClr val="tx1"/>
                </a:solidFill>
              </a:rPr>
              <a:t> PINN inference executes in sub-45ms on edge microcontrollers (ESP32-S3), avoiding heavy GPU cloud infrastructure costs.</a:t>
            </a:r>
          </a:p>
          <a:p>
            <a:pPr>
              <a:spcAft>
                <a:spcPts val="600"/>
              </a:spcAft>
            </a:pPr>
            <a:endParaRPr lang="en-US" sz="12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081507B-3704-3EF5-EE4B-9319804D2222}"/>
              </a:ext>
            </a:extLst>
          </p:cNvPr>
          <p:cNvSpPr/>
          <p:nvPr/>
        </p:nvSpPr>
        <p:spPr>
          <a:xfrm>
            <a:off x="126278" y="2737211"/>
            <a:ext cx="4428655" cy="1609618"/>
          </a:xfrm>
          <a:prstGeom prst="rect">
            <a:avLst/>
          </a:prstGeom>
          <a:solidFill>
            <a:srgbClr val="DBE6F1"/>
          </a:solidFill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dirty="0">
                <a:solidFill>
                  <a:schemeClr val="tx1"/>
                </a:solidFill>
              </a:rPr>
              <a:t>• 100% Solar Off-Grid Autonomy: Operates for 14 continuous days without sunlight on a 3.7V 3000mAh LiFePO4 battery (&lt;15µA standby current).</a:t>
            </a:r>
          </a:p>
          <a:p>
            <a:r>
              <a:rPr lang="en-US" sz="1200" dirty="0">
                <a:solidFill>
                  <a:schemeClr val="tx1"/>
                </a:solidFill>
              </a:rPr>
              <a:t>• Mountain Mesh Range: Achieves 12–15 km Line-of-Sight RF coverage (3.5–5 km in deep canyon gorges on 868 MHz LoRa).</a:t>
            </a:r>
          </a:p>
          <a:p>
            <a:r>
              <a:rPr lang="en-US" sz="1200" dirty="0">
                <a:solidFill>
                  <a:schemeClr val="tx1"/>
                </a:solidFill>
              </a:rPr>
              <a:t>• Extreme Ruggedness: IP67 weatherproof housing operating from -20°C to +55°C with 50,000 hours MTBF (Mean Time Between</a:t>
            </a:r>
            <a:r>
              <a:rPr lang="en-US" dirty="0"/>
              <a:t> </a:t>
            </a:r>
            <a:r>
              <a:rPr lang="en-US" sz="1200" dirty="0">
                <a:solidFill>
                  <a:schemeClr val="tx1"/>
                </a:solidFill>
              </a:rPr>
              <a:t>Failures).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51509AA-0079-03C3-96CE-8F14599595A9}"/>
              </a:ext>
            </a:extLst>
          </p:cNvPr>
          <p:cNvSpPr txBox="1"/>
          <p:nvPr/>
        </p:nvSpPr>
        <p:spPr>
          <a:xfrm>
            <a:off x="0" y="769877"/>
            <a:ext cx="25122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accent6">
                    <a:lumMod val="50000"/>
                  </a:schemeClr>
                </a:solidFill>
              </a:rPr>
              <a:t>⚙️ Technical Feasibility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8219C8A-4BB0-21FF-9477-8B194822DAD0}"/>
              </a:ext>
            </a:extLst>
          </p:cNvPr>
          <p:cNvSpPr txBox="1"/>
          <p:nvPr/>
        </p:nvSpPr>
        <p:spPr>
          <a:xfrm>
            <a:off x="13112" y="2383414"/>
            <a:ext cx="456074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en-US" sz="1200" dirty="0">
                <a:solidFill>
                  <a:srgbClr val="F8FAFC"/>
                </a:solidFill>
              </a:rPr>
              <a:t>🏔️ </a:t>
            </a:r>
            <a:r>
              <a:rPr lang="en-US" sz="1200" b="1" dirty="0">
                <a:solidFill>
                  <a:schemeClr val="accent6">
                    <a:lumMod val="50000"/>
                  </a:schemeClr>
                </a:solidFill>
              </a:rPr>
              <a:t> </a:t>
            </a:r>
            <a:r>
              <a:rPr lang="en-US" b="1" dirty="0">
                <a:solidFill>
                  <a:schemeClr val="accent6">
                    <a:lumMod val="50000"/>
                  </a:schemeClr>
                </a:solidFill>
              </a:rPr>
              <a:t>Operational &amp; Environmental Feasibility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A727449-F646-BB01-CEBA-891F806D480B}"/>
              </a:ext>
            </a:extLst>
          </p:cNvPr>
          <p:cNvSpPr txBox="1"/>
          <p:nvPr/>
        </p:nvSpPr>
        <p:spPr>
          <a:xfrm>
            <a:off x="0" y="4366283"/>
            <a:ext cx="365617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chemeClr val="accent6">
                    <a:lumMod val="50000"/>
                  </a:schemeClr>
                </a:solidFill>
              </a:rPr>
              <a:t>💰 Financial &amp; Economic Feasibility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4DAB27FD-102D-C13A-87A3-D81A9566A0C5}"/>
              </a:ext>
            </a:extLst>
          </p:cNvPr>
          <p:cNvSpPr/>
          <p:nvPr/>
        </p:nvSpPr>
        <p:spPr>
          <a:xfrm>
            <a:off x="70248" y="4690797"/>
            <a:ext cx="4484684" cy="1802560"/>
          </a:xfrm>
          <a:prstGeom prst="rect">
            <a:avLst/>
          </a:prstGeom>
          <a:solidFill>
            <a:srgbClr val="DBE6F1"/>
          </a:solidFill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spcAft>
                <a:spcPts val="600"/>
              </a:spcAft>
            </a:pPr>
            <a:r>
              <a:rPr lang="en-US" sz="1400" u="sng" dirty="0">
                <a:solidFill>
                  <a:srgbClr val="F97316"/>
                </a:solidFill>
              </a:rPr>
              <a:t>Accessible Hardware:</a:t>
            </a:r>
            <a:r>
              <a:rPr lang="en-US" sz="1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en-US" sz="1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Uses affordable, off-the-shelf ESP32-S3 and LoRa modules for easy assembly.</a:t>
            </a:r>
          </a:p>
          <a:p>
            <a:pPr>
              <a:spcAft>
                <a:spcPts val="600"/>
              </a:spcAft>
            </a:pPr>
            <a:r>
              <a:rPr lang="en-US" sz="1400" u="sng" dirty="0">
                <a:solidFill>
                  <a:srgbClr val="F97316"/>
                </a:solidFill>
              </a:rPr>
              <a:t>Massive Cost Reduction:</a:t>
            </a:r>
            <a:r>
              <a:rPr lang="en-US" sz="1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en-US" sz="120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Localised</a:t>
            </a:r>
            <a:r>
              <a:rPr lang="en-US" sz="1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low-cost IoT sensor meshes cut expenses by 80–90% compared to traditional stations.</a:t>
            </a:r>
          </a:p>
          <a:p>
            <a:pPr>
              <a:spcAft>
                <a:spcPts val="600"/>
              </a:spcAft>
            </a:pPr>
            <a:r>
              <a:rPr lang="en-US" sz="1400" u="sng" dirty="0">
                <a:solidFill>
                  <a:srgbClr val="F97316"/>
                </a:solidFill>
              </a:rPr>
              <a:t>High ROI:</a:t>
            </a:r>
            <a:r>
              <a:rPr lang="en-US" sz="1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en-US" sz="1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Pre-positioning BRO machinery prevents massive financial losses from destroyed bridges and vehicles.</a:t>
            </a:r>
          </a:p>
          <a:p>
            <a:pPr>
              <a:spcAft>
                <a:spcPts val="600"/>
              </a:spcAft>
            </a:pPr>
            <a:r>
              <a:rPr lang="en-US" sz="1400" u="sng" dirty="0">
                <a:solidFill>
                  <a:srgbClr val="F97316"/>
                </a:solidFill>
              </a:rPr>
              <a:t>Minimal Maintenance:</a:t>
            </a:r>
            <a:r>
              <a:rPr lang="en-US" sz="1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en-US" sz="1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Durable solid-state probes and low-power nodes require maintenance just 1-2 times annually.</a:t>
            </a: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624498C1-517A-E438-2ACB-948037662C6A}"/>
              </a:ext>
            </a:extLst>
          </p:cNvPr>
          <p:cNvCxnSpPr/>
          <p:nvPr/>
        </p:nvCxnSpPr>
        <p:spPr>
          <a:xfrm>
            <a:off x="4895245" y="1068410"/>
            <a:ext cx="0" cy="5470505"/>
          </a:xfrm>
          <a:prstGeom prst="line">
            <a:avLst/>
          </a:prstGeom>
          <a:ln w="3810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57" name="TextBox 56">
            <a:extLst>
              <a:ext uri="{FF2B5EF4-FFF2-40B4-BE49-F238E27FC236}">
                <a16:creationId xmlns:a16="http://schemas.microsoft.com/office/drawing/2014/main" id="{2B980B6E-400D-D109-96EA-4C88522CE18C}"/>
              </a:ext>
            </a:extLst>
          </p:cNvPr>
          <p:cNvSpPr txBox="1"/>
          <p:nvPr/>
        </p:nvSpPr>
        <p:spPr>
          <a:xfrm>
            <a:off x="4805378" y="875865"/>
            <a:ext cx="50804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accent6">
                    <a:lumMod val="50000"/>
                  </a:schemeClr>
                </a:solidFill>
              </a:rPr>
              <a:t>⚠️ Core Challenges &amp; 🛡️ Our Technical Solutions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6C00292-9E6F-26B6-0555-116F176CE4F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94000" y="4155686"/>
            <a:ext cx="5308625" cy="2383229"/>
          </a:xfrm>
          <a:prstGeom prst="rect">
            <a:avLst/>
          </a:prstGeom>
        </p:spPr>
      </p:pic>
      <p:pic>
        <p:nvPicPr>
          <p:cNvPr id="2" name="table">
            <a:extLst>
              <a:ext uri="{FF2B5EF4-FFF2-40B4-BE49-F238E27FC236}">
                <a16:creationId xmlns:a16="http://schemas.microsoft.com/office/drawing/2014/main" id="{AB9E693D-2486-9EF0-E027-1F13308BFAE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18611" y="1245197"/>
            <a:ext cx="6502118" cy="28778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571808"/>
            <a:ext cx="12191999" cy="286191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347200" y="6571808"/>
            <a:ext cx="2844800" cy="365125"/>
          </a:xfrm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162064" y="120208"/>
            <a:ext cx="1588078" cy="702752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Runtime Terror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" name="Text 11">
            <a:extLst>
              <a:ext uri="{FF2B5EF4-FFF2-40B4-BE49-F238E27FC236}">
                <a16:creationId xmlns:a16="http://schemas.microsoft.com/office/drawing/2014/main" id="{C111DA2C-9874-8221-FA80-65C7EBA99C64}"/>
              </a:ext>
            </a:extLst>
          </p:cNvPr>
          <p:cNvSpPr txBox="1"/>
          <p:nvPr/>
        </p:nvSpPr>
        <p:spPr>
          <a:xfrm>
            <a:off x="2526698" y="1746505"/>
            <a:ext cx="3236976" cy="1380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Text 13">
            <a:extLst>
              <a:ext uri="{FF2B5EF4-FFF2-40B4-BE49-F238E27FC236}">
                <a16:creationId xmlns:a16="http://schemas.microsoft.com/office/drawing/2014/main" id="{650ECD9C-FCAD-C688-E74C-ADB420C8DF0A}"/>
              </a:ext>
            </a:extLst>
          </p:cNvPr>
          <p:cNvSpPr txBox="1"/>
          <p:nvPr/>
        </p:nvSpPr>
        <p:spPr>
          <a:xfrm>
            <a:off x="8317992" y="1691640"/>
            <a:ext cx="3236976" cy="1380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" name="Shape 17">
            <a:extLst>
              <a:ext uri="{FF2B5EF4-FFF2-40B4-BE49-F238E27FC236}">
                <a16:creationId xmlns:a16="http://schemas.microsoft.com/office/drawing/2014/main" id="{9AD727F7-E5CA-F102-4C66-19F34B70FC88}"/>
              </a:ext>
            </a:extLst>
          </p:cNvPr>
          <p:cNvSpPr/>
          <p:nvPr/>
        </p:nvSpPr>
        <p:spPr>
          <a:xfrm>
            <a:off x="6096000" y="3182112"/>
            <a:ext cx="0" cy="155448"/>
          </a:xfrm>
          <a:prstGeom prst="line">
            <a:avLst/>
          </a:prstGeom>
          <a:noFill/>
          <a:ln w="15875">
            <a:solidFill>
              <a:srgbClr val="333333"/>
            </a:solidFill>
            <a:prstDash val="solid"/>
            <a:tailEnd type="none"/>
          </a:ln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26" name="Shape 20">
            <a:extLst>
              <a:ext uri="{FF2B5EF4-FFF2-40B4-BE49-F238E27FC236}">
                <a16:creationId xmlns:a16="http://schemas.microsoft.com/office/drawing/2014/main" id="{D3FA767F-DC20-C067-824B-258FD9BDD03A}"/>
              </a:ext>
            </a:extLst>
          </p:cNvPr>
          <p:cNvSpPr/>
          <p:nvPr/>
        </p:nvSpPr>
        <p:spPr>
          <a:xfrm>
            <a:off x="6096000" y="3337560"/>
            <a:ext cx="0" cy="164592"/>
          </a:xfrm>
          <a:prstGeom prst="line">
            <a:avLst/>
          </a:prstGeom>
          <a:noFill/>
          <a:ln w="15875">
            <a:solidFill>
              <a:srgbClr val="333333"/>
            </a:solidFill>
            <a:prstDash val="solid"/>
            <a:tailEnd type="triangle"/>
          </a:ln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33" name="Text 27">
            <a:extLst>
              <a:ext uri="{FF2B5EF4-FFF2-40B4-BE49-F238E27FC236}">
                <a16:creationId xmlns:a16="http://schemas.microsoft.com/office/drawing/2014/main" id="{0A3F69F9-F73B-D356-6256-F5B66A779F3C}"/>
              </a:ext>
            </a:extLst>
          </p:cNvPr>
          <p:cNvSpPr txBox="1"/>
          <p:nvPr/>
        </p:nvSpPr>
        <p:spPr>
          <a:xfrm>
            <a:off x="637032" y="4297680"/>
            <a:ext cx="32369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4" name="Text 28">
            <a:extLst>
              <a:ext uri="{FF2B5EF4-FFF2-40B4-BE49-F238E27FC236}">
                <a16:creationId xmlns:a16="http://schemas.microsoft.com/office/drawing/2014/main" id="{E01B71D9-7FC7-6AE5-DAE9-897C23B4895F}"/>
              </a:ext>
            </a:extLst>
          </p:cNvPr>
          <p:cNvSpPr txBox="1"/>
          <p:nvPr/>
        </p:nvSpPr>
        <p:spPr>
          <a:xfrm>
            <a:off x="655320" y="4590288"/>
            <a:ext cx="3200400" cy="1335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•"/>
              <a:tabLst/>
              <a:defRPr/>
            </a:pP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6" name="Text 30">
            <a:extLst>
              <a:ext uri="{FF2B5EF4-FFF2-40B4-BE49-F238E27FC236}">
                <a16:creationId xmlns:a16="http://schemas.microsoft.com/office/drawing/2014/main" id="{523B4251-67A4-8B39-C5DA-27F9B8BB868A}"/>
              </a:ext>
            </a:extLst>
          </p:cNvPr>
          <p:cNvSpPr txBox="1"/>
          <p:nvPr/>
        </p:nvSpPr>
        <p:spPr>
          <a:xfrm>
            <a:off x="4477512" y="4297680"/>
            <a:ext cx="32369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7" name="Text 31">
            <a:extLst>
              <a:ext uri="{FF2B5EF4-FFF2-40B4-BE49-F238E27FC236}">
                <a16:creationId xmlns:a16="http://schemas.microsoft.com/office/drawing/2014/main" id="{4396EF44-A542-8681-F86D-7E1FA8D5D162}"/>
              </a:ext>
            </a:extLst>
          </p:cNvPr>
          <p:cNvSpPr txBox="1"/>
          <p:nvPr/>
        </p:nvSpPr>
        <p:spPr>
          <a:xfrm>
            <a:off x="4495800" y="4590288"/>
            <a:ext cx="3200400" cy="1335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•"/>
              <a:tabLst/>
              <a:defRPr/>
            </a:pP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9" name="Text 33">
            <a:extLst>
              <a:ext uri="{FF2B5EF4-FFF2-40B4-BE49-F238E27FC236}">
                <a16:creationId xmlns:a16="http://schemas.microsoft.com/office/drawing/2014/main" id="{3A4B1548-4A02-F4A8-7BEF-5F11EA7A87C9}"/>
              </a:ext>
            </a:extLst>
          </p:cNvPr>
          <p:cNvSpPr txBox="1"/>
          <p:nvPr/>
        </p:nvSpPr>
        <p:spPr>
          <a:xfrm>
            <a:off x="8317992" y="4297680"/>
            <a:ext cx="32369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41" name="Picture 40">
            <a:extLst>
              <a:ext uri="{FF2B5EF4-FFF2-40B4-BE49-F238E27FC236}">
                <a16:creationId xmlns:a16="http://schemas.microsoft.com/office/drawing/2014/main" id="{FEB6B100-3FB9-FF12-7448-AB562C7636A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08" y="1072049"/>
            <a:ext cx="6386702" cy="4895277"/>
          </a:xfrm>
          <a:prstGeom prst="rect">
            <a:avLst/>
          </a:prstGeom>
        </p:spPr>
      </p:pic>
      <p:sp>
        <p:nvSpPr>
          <p:cNvPr id="43" name="Title 42">
            <a:extLst>
              <a:ext uri="{FF2B5EF4-FFF2-40B4-BE49-F238E27FC236}">
                <a16:creationId xmlns:a16="http://schemas.microsoft.com/office/drawing/2014/main" id="{64BED09A-45BE-567B-3EA6-4FEBCAC0D6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IMPACT AND BENEFITS</a:t>
            </a:r>
            <a:endParaRPr lang="en-US" dirty="0"/>
          </a:p>
        </p:txBody>
      </p: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53E6AD22-2AB6-8852-50D3-0E0E332B0576}"/>
              </a:ext>
            </a:extLst>
          </p:cNvPr>
          <p:cNvCxnSpPr>
            <a:cxnSpLocks/>
          </p:cNvCxnSpPr>
          <p:nvPr/>
        </p:nvCxnSpPr>
        <p:spPr>
          <a:xfrm>
            <a:off x="6416416" y="1040511"/>
            <a:ext cx="0" cy="4926815"/>
          </a:xfrm>
          <a:prstGeom prst="line">
            <a:avLst/>
          </a:prstGeom>
          <a:ln w="3810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49" name="Shape 32">
            <a:extLst>
              <a:ext uri="{FF2B5EF4-FFF2-40B4-BE49-F238E27FC236}">
                <a16:creationId xmlns:a16="http://schemas.microsoft.com/office/drawing/2014/main" id="{C372D711-0031-03E7-94FE-47B41D605705}"/>
              </a:ext>
            </a:extLst>
          </p:cNvPr>
          <p:cNvSpPr/>
          <p:nvPr/>
        </p:nvSpPr>
        <p:spPr>
          <a:xfrm>
            <a:off x="268961" y="1039128"/>
            <a:ext cx="6124357" cy="801023"/>
          </a:xfrm>
          <a:prstGeom prst="roundRect">
            <a:avLst>
              <a:gd name="adj" fmla="val 5000"/>
            </a:avLst>
          </a:prstGeom>
          <a:solidFill>
            <a:schemeClr val="bg1"/>
          </a:solidFill>
          <a:ln/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800" dirty="0">
                <a:latin typeface="Book Antiqua" panose="02040602050305030304" pitchFamily="18" charset="0"/>
              </a:rPr>
              <a:t>           SPEED &amp; TIME BENEFIT</a:t>
            </a:r>
            <a:endParaRPr kumimoji="0" lang="en-US" sz="2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Book Antiqua" panose="02040602050305030304" pitchFamily="18" charset="0"/>
            </a:endParaRP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ABE86004-8813-8A78-C130-586B94AC4726}"/>
              </a:ext>
            </a:extLst>
          </p:cNvPr>
          <p:cNvSpPr txBox="1"/>
          <p:nvPr/>
        </p:nvSpPr>
        <p:spPr>
          <a:xfrm>
            <a:off x="6393320" y="1044397"/>
            <a:ext cx="579867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0" i="0" dirty="0">
                <a:solidFill>
                  <a:schemeClr val="tx1"/>
                </a:solidFill>
                <a:effectLst/>
                <a:latin typeface="Book Antiqua" panose="02040602050305030304" pitchFamily="18" charset="0"/>
              </a:rPr>
              <a:t>HUMAN &amp; ECONOMIC IMPACT</a:t>
            </a:r>
            <a:endParaRPr lang="en-US" sz="2800" dirty="0">
              <a:latin typeface="Book Antiqua" panose="02040602050305030304" pitchFamily="18" charset="0"/>
            </a:endParaRP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5BCCD132-C3C8-A357-22B2-E60AE7BD218F}"/>
              </a:ext>
            </a:extLst>
          </p:cNvPr>
          <p:cNvSpPr/>
          <p:nvPr/>
        </p:nvSpPr>
        <p:spPr>
          <a:xfrm>
            <a:off x="6512261" y="1644911"/>
            <a:ext cx="5519408" cy="4168692"/>
          </a:xfrm>
          <a:prstGeom prst="rect">
            <a:avLst/>
          </a:prstGeom>
          <a:solidFill>
            <a:srgbClr val="DBE6F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u="sng" dirty="0">
              <a:solidFill>
                <a:srgbClr val="F97316"/>
              </a:solidFill>
            </a:endParaRP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CC2D2453-047E-7361-7AF1-39B0F2CA4391}"/>
              </a:ext>
            </a:extLst>
          </p:cNvPr>
          <p:cNvSpPr txBox="1"/>
          <p:nvPr/>
        </p:nvSpPr>
        <p:spPr>
          <a:xfrm>
            <a:off x="6445136" y="1887347"/>
            <a:ext cx="609904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u="sng" dirty="0">
                <a:solidFill>
                  <a:srgbClr val="F97316"/>
                </a:solidFill>
              </a:rPr>
              <a:t>1. Humanitarian Life Defense (Beas Basin):</a:t>
            </a:r>
            <a:endParaRPr lang="en-US" dirty="0"/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BA5D6409-46FC-EEE5-10EF-BD83287F09A0}"/>
              </a:ext>
            </a:extLst>
          </p:cNvPr>
          <p:cNvSpPr txBox="1"/>
          <p:nvPr/>
        </p:nvSpPr>
        <p:spPr>
          <a:xfrm>
            <a:off x="6655664" y="2099019"/>
            <a:ext cx="535962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/>
              <a:t>1. Protects 44,222+ vulnerable residents across 6 high-risk habitations in Beas River Basin (</a:t>
            </a:r>
            <a:r>
              <a:rPr lang="en-US" sz="1400" dirty="0" err="1"/>
              <a:t>Thalot</a:t>
            </a:r>
            <a:r>
              <a:rPr lang="en-US" sz="1400" dirty="0"/>
              <a:t>, </a:t>
            </a:r>
            <a:r>
              <a:rPr lang="en-US" sz="1400" dirty="0" err="1"/>
              <a:t>Larji</a:t>
            </a:r>
            <a:r>
              <a:rPr lang="en-US" sz="1400" dirty="0"/>
              <a:t>, </a:t>
            </a:r>
            <a:r>
              <a:rPr lang="en-US" sz="1400" dirty="0" err="1"/>
              <a:t>Aut</a:t>
            </a:r>
            <a:r>
              <a:rPr lang="en-US" sz="1400" dirty="0"/>
              <a:t>, </a:t>
            </a:r>
            <a:r>
              <a:rPr lang="en-US" sz="1400" dirty="0" err="1"/>
              <a:t>Pandoh</a:t>
            </a:r>
            <a:r>
              <a:rPr lang="en-US" sz="1400" dirty="0"/>
              <a:t>, </a:t>
            </a:r>
            <a:r>
              <a:rPr lang="en-US" sz="1400" dirty="0" err="1"/>
              <a:t>Bhuntar</a:t>
            </a:r>
            <a:r>
              <a:rPr lang="en-US" sz="1400" dirty="0"/>
              <a:t>, Mandi).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5B44C290-C58B-641B-6A36-68C388143304}"/>
              </a:ext>
            </a:extLst>
          </p:cNvPr>
          <p:cNvSpPr txBox="1"/>
          <p:nvPr/>
        </p:nvSpPr>
        <p:spPr>
          <a:xfrm>
            <a:off x="6655663" y="2551236"/>
            <a:ext cx="541599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/>
              <a:t>2.</a:t>
            </a:r>
            <a:r>
              <a:rPr lang="en-US" sz="1400" b="0" i="0" dirty="0">
                <a:solidFill>
                  <a:schemeClr val="tx1"/>
                </a:solidFill>
                <a:effectLst/>
                <a:latin typeface="Calibri" pitchFamily="34" charset="0"/>
              </a:rPr>
              <a:t> Integrates Census 2011 housing demographics to prioritize rescue convoys for high-kutcha settlements (e.g. </a:t>
            </a:r>
            <a:r>
              <a:rPr lang="en-US" sz="1400" b="0" i="0" dirty="0" err="1">
                <a:solidFill>
                  <a:schemeClr val="tx1"/>
                </a:solidFill>
                <a:effectLst/>
                <a:latin typeface="Calibri" pitchFamily="34" charset="0"/>
              </a:rPr>
              <a:t>Thalot</a:t>
            </a:r>
            <a:r>
              <a:rPr lang="en-US" sz="1400" b="0" i="0" dirty="0">
                <a:solidFill>
                  <a:schemeClr val="tx1"/>
                </a:solidFill>
                <a:effectLst/>
                <a:latin typeface="Calibri" pitchFamily="34" charset="0"/>
              </a:rPr>
              <a:t> 72% Kutcha).</a:t>
            </a:r>
            <a:endParaRPr lang="en-US" sz="1400" dirty="0"/>
          </a:p>
        </p:txBody>
      </p:sp>
      <p:sp>
        <p:nvSpPr>
          <p:cNvPr id="17410" name="TextBox 17409">
            <a:extLst>
              <a:ext uri="{FF2B5EF4-FFF2-40B4-BE49-F238E27FC236}">
                <a16:creationId xmlns:a16="http://schemas.microsoft.com/office/drawing/2014/main" id="{320DEF89-76DC-A1F1-6BC2-C89DBFD37012}"/>
              </a:ext>
            </a:extLst>
          </p:cNvPr>
          <p:cNvSpPr txBox="1"/>
          <p:nvPr/>
        </p:nvSpPr>
        <p:spPr>
          <a:xfrm>
            <a:off x="6445136" y="3036208"/>
            <a:ext cx="626821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0" i="0" u="sng" dirty="0">
                <a:solidFill>
                  <a:srgbClr val="F97316"/>
                </a:solidFill>
                <a:effectLst/>
                <a:latin typeface="+mn-lt"/>
              </a:rPr>
              <a:t>2. National Highway Lifeline Preservation:</a:t>
            </a:r>
            <a:endParaRPr lang="en-US" sz="1400" u="sng" dirty="0">
              <a:solidFill>
                <a:srgbClr val="F97316"/>
              </a:solidFill>
              <a:latin typeface="+mn-lt"/>
            </a:endParaRPr>
          </a:p>
        </p:txBody>
      </p:sp>
      <p:sp>
        <p:nvSpPr>
          <p:cNvPr id="17412" name="TextBox 17411">
            <a:extLst>
              <a:ext uri="{FF2B5EF4-FFF2-40B4-BE49-F238E27FC236}">
                <a16:creationId xmlns:a16="http://schemas.microsoft.com/office/drawing/2014/main" id="{3F690D84-D0F4-7101-4AF0-5FB7C858BEF0}"/>
              </a:ext>
            </a:extLst>
          </p:cNvPr>
          <p:cNvSpPr txBox="1"/>
          <p:nvPr/>
        </p:nvSpPr>
        <p:spPr>
          <a:xfrm>
            <a:off x="6646588" y="3298238"/>
            <a:ext cx="5494713" cy="15081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0" algn="l">
              <a:buNone/>
            </a:pPr>
            <a:r>
              <a:rPr lang="en-US" sz="1400" dirty="0"/>
              <a:t>1.  </a:t>
            </a:r>
            <a:r>
              <a:rPr lang="en-US" sz="1400" b="0" i="0" dirty="0">
                <a:effectLst/>
                <a:latin typeface="Calibri" pitchFamily="34" charset="0"/>
              </a:rPr>
              <a:t>Real-time hydrodynamic pier scour diagnostics (vs &gt; 5 m/s) on 4 critical NH-21 highway bridges prevents structural vehicle washouts.</a:t>
            </a:r>
          </a:p>
          <a:p>
            <a:pPr indent="0" algn="l">
              <a:buNone/>
            </a:pPr>
            <a:r>
              <a:rPr lang="en-US" sz="1400" dirty="0"/>
              <a:t>2.</a:t>
            </a:r>
            <a:r>
              <a:rPr lang="en-US" sz="1400" b="0" i="0" dirty="0">
                <a:effectLst/>
                <a:latin typeface="Calibri" pitchFamily="34" charset="0"/>
              </a:rPr>
              <a:t> Automatically pre-positions BRO 70 RCC excavators and redirects ambulances to elevated ridge corridors before valley submergence.</a:t>
            </a:r>
          </a:p>
          <a:p>
            <a:pPr>
              <a:buNone/>
            </a:pPr>
            <a:br>
              <a:rPr lang="en-US" sz="1800" b="0" i="0" dirty="0">
                <a:solidFill>
                  <a:schemeClr val="tx1"/>
                </a:solidFill>
                <a:effectLst/>
                <a:latin typeface="Calibri" pitchFamily="34" charset="0"/>
              </a:rPr>
            </a:br>
            <a:endParaRPr lang="en-US" dirty="0"/>
          </a:p>
        </p:txBody>
      </p:sp>
      <p:sp>
        <p:nvSpPr>
          <p:cNvPr id="17414" name="TextBox 17413">
            <a:extLst>
              <a:ext uri="{FF2B5EF4-FFF2-40B4-BE49-F238E27FC236}">
                <a16:creationId xmlns:a16="http://schemas.microsoft.com/office/drawing/2014/main" id="{998E19DB-3D71-8B83-DC17-5041A10D0482}"/>
              </a:ext>
            </a:extLst>
          </p:cNvPr>
          <p:cNvSpPr txBox="1"/>
          <p:nvPr/>
        </p:nvSpPr>
        <p:spPr>
          <a:xfrm>
            <a:off x="6445136" y="4226199"/>
            <a:ext cx="650595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0" i="0" u="sng" dirty="0">
                <a:solidFill>
                  <a:srgbClr val="F97316"/>
                </a:solidFill>
                <a:effectLst/>
                <a:latin typeface="+mn-lt"/>
              </a:rPr>
              <a:t>3. State Disaster Management (SDMA) Support:</a:t>
            </a:r>
            <a:endParaRPr lang="en-US" sz="1400" u="sng" dirty="0">
              <a:solidFill>
                <a:srgbClr val="F97316"/>
              </a:solidFill>
              <a:latin typeface="+mn-lt"/>
            </a:endParaRPr>
          </a:p>
        </p:txBody>
      </p:sp>
      <p:sp>
        <p:nvSpPr>
          <p:cNvPr id="17416" name="TextBox 17415">
            <a:extLst>
              <a:ext uri="{FF2B5EF4-FFF2-40B4-BE49-F238E27FC236}">
                <a16:creationId xmlns:a16="http://schemas.microsoft.com/office/drawing/2014/main" id="{F6896380-BEBE-B32C-216D-B0D2859E89A0}"/>
              </a:ext>
            </a:extLst>
          </p:cNvPr>
          <p:cNvSpPr txBox="1"/>
          <p:nvPr/>
        </p:nvSpPr>
        <p:spPr>
          <a:xfrm>
            <a:off x="6655663" y="4426132"/>
            <a:ext cx="5433822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/>
              <a:t>1.</a:t>
            </a:r>
            <a:r>
              <a:rPr lang="en-US" sz="1400" b="0" i="0" dirty="0">
                <a:solidFill>
                  <a:schemeClr val="tx1"/>
                </a:solidFill>
                <a:effectLst/>
                <a:latin typeface="Calibri" pitchFamily="34" charset="0"/>
              </a:rPr>
              <a:t> AI Permanent Relocation Matrix: Employs Multi-Criteria Decision Analysis (MCDA 0–100) to rank endangered habitations for long-term safe rehabilitation.</a:t>
            </a:r>
            <a:endParaRPr lang="en-US" sz="1400" dirty="0"/>
          </a:p>
        </p:txBody>
      </p:sp>
      <p:sp>
        <p:nvSpPr>
          <p:cNvPr id="17418" name="TextBox 17417">
            <a:extLst>
              <a:ext uri="{FF2B5EF4-FFF2-40B4-BE49-F238E27FC236}">
                <a16:creationId xmlns:a16="http://schemas.microsoft.com/office/drawing/2014/main" id="{38BE53D9-202A-3784-6639-AE2A16009F39}"/>
              </a:ext>
            </a:extLst>
          </p:cNvPr>
          <p:cNvSpPr txBox="1"/>
          <p:nvPr/>
        </p:nvSpPr>
        <p:spPr>
          <a:xfrm>
            <a:off x="6435423" y="5078711"/>
            <a:ext cx="559451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0" algn="l">
              <a:buNone/>
            </a:pPr>
            <a:r>
              <a:rPr lang="en-US" sz="1400" b="0" i="0" u="sng" dirty="0">
                <a:solidFill>
                  <a:srgbClr val="F97316"/>
                </a:solidFill>
                <a:effectLst/>
                <a:latin typeface="Calibri" pitchFamily="34" charset="0"/>
              </a:rPr>
              <a:t>4. Inter-Agency Unified Command &amp; Sachet Integration:</a:t>
            </a:r>
          </a:p>
          <a:p>
            <a:pPr indent="0" algn="l">
              <a:buNone/>
            </a:pPr>
            <a:r>
              <a:rPr lang="en-US" sz="1400" dirty="0"/>
              <a:t>     1.</a:t>
            </a:r>
            <a:r>
              <a:rPr lang="en-US" sz="1400" b="0" i="0" dirty="0">
                <a:effectLst/>
                <a:latin typeface="Calibri" pitchFamily="34" charset="0"/>
              </a:rPr>
              <a:t>Streams official NDMA CAP v1.2 XML feeds to unify District Collectors,        </a:t>
            </a:r>
            <a:r>
              <a:rPr lang="en-US" sz="1400" dirty="0"/>
              <a:t>            </a:t>
            </a:r>
            <a:endParaRPr lang="en-US" sz="1400" b="0" i="0" dirty="0">
              <a:effectLst/>
              <a:latin typeface="Courier New" panose="02070309020205020404" pitchFamily="49" charset="0"/>
            </a:endParaRPr>
          </a:p>
        </p:txBody>
      </p:sp>
      <p:sp>
        <p:nvSpPr>
          <p:cNvPr id="17420" name="TextBox 17419">
            <a:extLst>
              <a:ext uri="{FF2B5EF4-FFF2-40B4-BE49-F238E27FC236}">
                <a16:creationId xmlns:a16="http://schemas.microsoft.com/office/drawing/2014/main" id="{C632DFD6-8CE7-A4E0-C669-9EC84BFFADB6}"/>
              </a:ext>
            </a:extLst>
          </p:cNvPr>
          <p:cNvSpPr txBox="1"/>
          <p:nvPr/>
        </p:nvSpPr>
        <p:spPr>
          <a:xfrm>
            <a:off x="6655664" y="5448593"/>
            <a:ext cx="647395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0" i="0" dirty="0">
                <a:effectLst/>
                <a:latin typeface="Calibri" pitchFamily="34" charset="0"/>
              </a:rPr>
              <a:t>SDMA, and NDRF battalions with zero communication delay.</a:t>
            </a:r>
            <a:endParaRPr lang="en-US" dirty="0"/>
          </a:p>
        </p:txBody>
      </p:sp>
      <p:sp>
        <p:nvSpPr>
          <p:cNvPr id="17421" name="Rectangle 17420">
            <a:extLst>
              <a:ext uri="{FF2B5EF4-FFF2-40B4-BE49-F238E27FC236}">
                <a16:creationId xmlns:a16="http://schemas.microsoft.com/office/drawing/2014/main" id="{38A47A37-D85A-E3AF-023F-5F57068ADE0F}"/>
              </a:ext>
            </a:extLst>
          </p:cNvPr>
          <p:cNvSpPr/>
          <p:nvPr/>
        </p:nvSpPr>
        <p:spPr>
          <a:xfrm>
            <a:off x="162064" y="6035040"/>
            <a:ext cx="11927421" cy="457834"/>
          </a:xfrm>
          <a:prstGeom prst="rect">
            <a:avLst/>
          </a:prstGeom>
          <a:solidFill>
            <a:srgbClr val="DBE6F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423" name="TextBox 17422">
            <a:extLst>
              <a:ext uri="{FF2B5EF4-FFF2-40B4-BE49-F238E27FC236}">
                <a16:creationId xmlns:a16="http://schemas.microsoft.com/office/drawing/2014/main" id="{23BA716B-07C9-1A88-6A9C-EFB07D6987FD}"/>
              </a:ext>
            </a:extLst>
          </p:cNvPr>
          <p:cNvSpPr txBox="1"/>
          <p:nvPr/>
        </p:nvSpPr>
        <p:spPr>
          <a:xfrm>
            <a:off x="110248" y="5995360"/>
            <a:ext cx="656539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i="0" dirty="0">
                <a:solidFill>
                  <a:srgbClr val="F97316"/>
                </a:solidFill>
                <a:effectLst/>
                <a:latin typeface="Calibri" pitchFamily="34" charset="0"/>
              </a:rPr>
              <a:t>STRATEGIC TAKEAWAY:</a:t>
            </a:r>
            <a:endParaRPr lang="en-US" sz="1400" b="1" dirty="0">
              <a:solidFill>
                <a:srgbClr val="F97316"/>
              </a:solidFill>
            </a:endParaRPr>
          </a:p>
        </p:txBody>
      </p:sp>
      <p:sp>
        <p:nvSpPr>
          <p:cNvPr id="17425" name="TextBox 17424">
            <a:extLst>
              <a:ext uri="{FF2B5EF4-FFF2-40B4-BE49-F238E27FC236}">
                <a16:creationId xmlns:a16="http://schemas.microsoft.com/office/drawing/2014/main" id="{D3D4BB28-5C9E-E4D1-C036-B01BE1DEF84B}"/>
              </a:ext>
            </a:extLst>
          </p:cNvPr>
          <p:cNvSpPr txBox="1"/>
          <p:nvPr/>
        </p:nvSpPr>
        <p:spPr>
          <a:xfrm>
            <a:off x="136539" y="6020290"/>
            <a:ext cx="11878749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b="0" i="0" dirty="0">
                <a:solidFill>
                  <a:schemeClr val="tx1"/>
                </a:solidFill>
                <a:effectLst/>
                <a:latin typeface="Calibri" pitchFamily="34" charset="0"/>
              </a:rPr>
              <a:t>                                                </a:t>
            </a:r>
            <a:r>
              <a:rPr lang="en-US" sz="1300" b="1" i="0" dirty="0">
                <a:solidFill>
                  <a:schemeClr val="tx1"/>
                </a:solidFill>
                <a:effectLst/>
                <a:latin typeface="Calibri" pitchFamily="34" charset="0"/>
              </a:rPr>
              <a:t> In rapid-onset Himalayan disasters, time is the ultimate currency of survival. By compressing warning latency from 45 minutes to &lt; 1.5 seconds, </a:t>
            </a:r>
            <a:r>
              <a:rPr lang="en-US" sz="1300" b="1" i="0" dirty="0" err="1">
                <a:solidFill>
                  <a:schemeClr val="tx1"/>
                </a:solidFill>
                <a:effectLst/>
                <a:latin typeface="Calibri" pitchFamily="34" charset="0"/>
              </a:rPr>
              <a:t>GeoResilience</a:t>
            </a:r>
            <a:r>
              <a:rPr lang="en-US" sz="1300" b="1" i="0" dirty="0">
                <a:solidFill>
                  <a:schemeClr val="tx1"/>
                </a:solidFill>
                <a:effectLst/>
                <a:latin typeface="Calibri" pitchFamily="34" charset="0"/>
              </a:rPr>
              <a:t> AI delivers a 600x faster response window—transforming predictive physics into an active, fail-safe life-defense shield for 44,222+ vulnerable citizens.</a:t>
            </a:r>
            <a:endParaRPr lang="en-US" sz="1300" b="1" dirty="0"/>
          </a:p>
        </p:txBody>
      </p:sp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605754"/>
            <a:ext cx="12191999" cy="252246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2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RESEARCH  AND REFERENCES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347200" y="6549314"/>
            <a:ext cx="2844800" cy="365125"/>
          </a:xfrm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9" name="Oval 8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162064" y="173588"/>
            <a:ext cx="1508859" cy="652322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Runtime Terror</a:t>
            </a:r>
            <a:endParaRPr lang="en-IN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5" name="Text 1">
            <a:extLst>
              <a:ext uri="{FF2B5EF4-FFF2-40B4-BE49-F238E27FC236}">
                <a16:creationId xmlns:a16="http://schemas.microsoft.com/office/drawing/2014/main" id="{0BD58B60-3F3C-7A8B-93E4-095EA063FC6F}"/>
              </a:ext>
            </a:extLst>
          </p:cNvPr>
          <p:cNvSpPr txBox="1"/>
          <p:nvPr/>
        </p:nvSpPr>
        <p:spPr>
          <a:xfrm>
            <a:off x="272354" y="1175141"/>
            <a:ext cx="5253375" cy="53952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lnSpc>
                <a:spcPct val="125000"/>
              </a:lnSpc>
              <a:spcAft>
                <a:spcPts val="600"/>
              </a:spcAft>
              <a:buSzPct val="100000"/>
              <a:buChar char="●"/>
            </a:pPr>
            <a:r>
              <a:rPr lang="en-US" sz="14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&amp; Disaster Frameworks</a:t>
            </a:r>
            <a:endParaRPr lang="en-US" sz="1400" dirty="0"/>
          </a:p>
          <a:p>
            <a:pPr marL="685800" lvl="1" indent="-342900">
              <a:lnSpc>
                <a:spcPct val="125000"/>
              </a:lnSpc>
              <a:spcAft>
                <a:spcPts val="600"/>
              </a:spcAft>
              <a:buSzPct val="100000"/>
              <a:buChar char="o"/>
            </a:pPr>
            <a:r>
              <a:rPr lang="en-US" sz="1200" u="sng" dirty="0">
                <a:solidFill>
                  <a:srgbClr val="0563C1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NDMA National Guidelines: ndma.gov.in/Governance/Guidelines</a:t>
            </a:r>
            <a:endParaRPr lang="en-US" sz="1200" dirty="0"/>
          </a:p>
          <a:p>
            <a:pPr marL="685800" lvl="1" indent="-342900">
              <a:lnSpc>
                <a:spcPct val="125000"/>
              </a:lnSpc>
              <a:spcAft>
                <a:spcPts val="600"/>
              </a:spcAft>
              <a:buSzPct val="100000"/>
              <a:buChar char="o"/>
            </a:pPr>
            <a:r>
              <a:rPr lang="en-US" sz="1200" u="sng" dirty="0">
                <a:solidFill>
                  <a:srgbClr val="0563C1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HPSDMA Disaster Plan (Beas Basin): hpsdma.nic.in</a:t>
            </a:r>
            <a:endParaRPr lang="en-US" sz="1200" dirty="0"/>
          </a:p>
          <a:p>
            <a:pPr marL="685800" lvl="1" indent="-342900">
              <a:lnSpc>
                <a:spcPct val="125000"/>
              </a:lnSpc>
              <a:spcAft>
                <a:spcPts val="600"/>
              </a:spcAft>
              <a:buSzPct val="100000"/>
              <a:buChar char="o"/>
            </a:pPr>
            <a:r>
              <a:rPr lang="en-US" sz="1200" u="sng" dirty="0">
                <a:solidFill>
                  <a:srgbClr val="0563C1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NITI Aayog Himalayan GLOF Strategy: niti.gov.in</a:t>
            </a:r>
            <a:endParaRPr lang="en-US" sz="1200" dirty="0"/>
          </a:p>
          <a:p>
            <a:pPr marL="685800" lvl="1" indent="-342900">
              <a:lnSpc>
                <a:spcPct val="125000"/>
              </a:lnSpc>
              <a:spcAft>
                <a:spcPts val="600"/>
              </a:spcAft>
              <a:buSzPct val="100000"/>
              <a:buChar char="o"/>
            </a:pPr>
            <a:r>
              <a:rPr lang="en-US" sz="1200" u="sng" dirty="0">
                <a:solidFill>
                  <a:srgbClr val="0563C1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NDMA CAP v1.2 / Sachet Standard: sachet.ndma.gov.in</a:t>
            </a:r>
            <a:endParaRPr lang="en-US" sz="1200" dirty="0"/>
          </a:p>
          <a:p>
            <a:pPr marL="342900" indent="-342900">
              <a:lnSpc>
                <a:spcPct val="125000"/>
              </a:lnSpc>
              <a:spcAft>
                <a:spcPts val="600"/>
              </a:spcAft>
              <a:buSzPct val="100000"/>
              <a:buChar char="●"/>
            </a:pPr>
            <a:r>
              <a:rPr lang="en-US" sz="14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&amp; Physics Literature</a:t>
            </a:r>
          </a:p>
          <a:p>
            <a:pPr marL="685800" lvl="1" indent="-342900">
              <a:lnSpc>
                <a:spcPct val="125000"/>
              </a:lnSpc>
              <a:spcAft>
                <a:spcPts val="600"/>
              </a:spcAft>
              <a:buSzPct val="100000"/>
              <a:buChar char="o"/>
            </a:pPr>
            <a:r>
              <a:rPr lang="en-US" sz="1200" u="sng" dirty="0">
                <a:solidFill>
                  <a:srgbClr val="0563C1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8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PINN Physics Core (Raissi et al., 2019): doi.org/10.1016/j.jcp.2018.10.045</a:t>
            </a:r>
            <a:endParaRPr lang="en-US" sz="1200" u="sng" dirty="0">
              <a:solidFill>
                <a:srgbClr val="0563C1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685800" lvl="1" indent="-342900">
              <a:lnSpc>
                <a:spcPct val="125000"/>
              </a:lnSpc>
              <a:spcAft>
                <a:spcPts val="600"/>
              </a:spcAft>
              <a:buSzPct val="100000"/>
              <a:buChar char="o"/>
            </a:pPr>
            <a:r>
              <a:rPr lang="en-US" sz="1200" u="sng" dirty="0">
                <a:solidFill>
                  <a:srgbClr val="0563C1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9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AI Global Flood Forecasting (Nature, 2024): nature.com/articles/s41586-024-07145-1</a:t>
            </a:r>
            <a:endParaRPr lang="en-US" sz="1200" u="sng" dirty="0">
              <a:solidFill>
                <a:srgbClr val="0563C1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685800" lvl="1" indent="-342900">
              <a:lnSpc>
                <a:spcPct val="125000"/>
              </a:lnSpc>
              <a:spcAft>
                <a:spcPts val="600"/>
              </a:spcAft>
              <a:buSzPct val="100000"/>
              <a:buChar char="o"/>
            </a:pPr>
            <a:r>
              <a:rPr lang="en-US" sz="1200" u="sng" dirty="0">
                <a:solidFill>
                  <a:srgbClr val="0563C1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1D Saint-Venant &amp; Infiltration: ascelibrary.org/journal/jhendu</a:t>
            </a:r>
            <a:endParaRPr lang="en-US" sz="1200" u="sng" dirty="0">
              <a:solidFill>
                <a:srgbClr val="0563C1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685800" lvl="1" indent="-342900">
              <a:lnSpc>
                <a:spcPct val="125000"/>
              </a:lnSpc>
              <a:spcAft>
                <a:spcPts val="600"/>
              </a:spcAft>
              <a:buSzPct val="100000"/>
              <a:buChar char="o"/>
            </a:pPr>
            <a:r>
              <a:rPr lang="en-US" sz="1200" u="sng" dirty="0">
                <a:solidFill>
                  <a:srgbClr val="0563C1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1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FHWA HEC-18 Bridge Pier Scour: fhwa.dot.gov/engineering/hydraulics</a:t>
            </a:r>
            <a:endParaRPr lang="en-US" sz="1200" u="sng" dirty="0">
              <a:solidFill>
                <a:srgbClr val="0563C1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342900" indent="-342900">
              <a:lnSpc>
                <a:spcPct val="125000"/>
              </a:lnSpc>
              <a:spcAft>
                <a:spcPts val="600"/>
              </a:spcAft>
              <a:buSzPct val="100000"/>
              <a:buChar char="●"/>
            </a:pPr>
            <a:r>
              <a:rPr lang="en-US" sz="14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Satellite &amp; Telemetry Standards</a:t>
            </a:r>
          </a:p>
          <a:p>
            <a:pPr marL="685800" lvl="1" indent="-342900">
              <a:lnSpc>
                <a:spcPct val="125000"/>
              </a:lnSpc>
              <a:spcAft>
                <a:spcPts val="600"/>
              </a:spcAft>
              <a:buSzPct val="100000"/>
              <a:buChar char="o"/>
            </a:pPr>
            <a:r>
              <a:rPr lang="en-US" sz="1200" u="sng" dirty="0">
                <a:solidFill>
                  <a:srgbClr val="0563C1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ESA Sentinel-1 SAR Radar: sentinels.copernicus.eu</a:t>
            </a:r>
            <a:endParaRPr lang="en-US" sz="1200" u="sng" dirty="0">
              <a:solidFill>
                <a:srgbClr val="0563C1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685800" lvl="1" indent="-342900">
              <a:lnSpc>
                <a:spcPct val="125000"/>
              </a:lnSpc>
              <a:spcAft>
                <a:spcPts val="600"/>
              </a:spcAft>
              <a:buSzPct val="100000"/>
              <a:buChar char="o"/>
            </a:pPr>
            <a:r>
              <a:rPr lang="en-US" sz="1200" u="sng" dirty="0">
                <a:solidFill>
                  <a:srgbClr val="0563C1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ISRO Bhuvan Cartosat DEM: bhuvan.nrsc.gov.in</a:t>
            </a:r>
            <a:endParaRPr lang="en-US" sz="1200" u="sng" dirty="0">
              <a:solidFill>
                <a:srgbClr val="0563C1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685800" lvl="1" indent="-342900">
              <a:lnSpc>
                <a:spcPct val="125000"/>
              </a:lnSpc>
              <a:spcAft>
                <a:spcPts val="600"/>
              </a:spcAft>
              <a:buSzPct val="100000"/>
              <a:buChar char="o"/>
            </a:pPr>
            <a:r>
              <a:rPr lang="en-US" sz="1200" u="sng" dirty="0">
                <a:solidFill>
                  <a:srgbClr val="0563C1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NASA GPM IMERG Precipitation: gpm.nasa.gov</a:t>
            </a:r>
            <a:endParaRPr lang="en-US" sz="1200" u="sng" dirty="0">
              <a:solidFill>
                <a:srgbClr val="0563C1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685800" lvl="1" indent="-342900">
              <a:lnSpc>
                <a:spcPct val="125000"/>
              </a:lnSpc>
              <a:spcAft>
                <a:spcPts val="600"/>
              </a:spcAft>
              <a:buSzPct val="100000"/>
              <a:buChar char="o"/>
            </a:pPr>
            <a:r>
              <a:rPr lang="en-US" sz="1200" u="sng" dirty="0">
                <a:solidFill>
                  <a:srgbClr val="0563C1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LoRaWAN IN865 Protocol Standard: lora-alliance.org</a:t>
            </a:r>
            <a:r>
              <a:rPr lang="en-US" sz="1200" u="sng" dirty="0">
                <a:solidFill>
                  <a:srgbClr val="0563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</a:p>
        </p:txBody>
      </p:sp>
      <p:sp>
        <p:nvSpPr>
          <p:cNvPr id="7" name="Key Datasets Box">
            <a:extLst>
              <a:ext uri="{FF2B5EF4-FFF2-40B4-BE49-F238E27FC236}">
                <a16:creationId xmlns:a16="http://schemas.microsoft.com/office/drawing/2014/main" id="{BAA0F582-75CD-4074-5696-AD512F572738}"/>
              </a:ext>
            </a:extLst>
          </p:cNvPr>
          <p:cNvSpPr/>
          <p:nvPr/>
        </p:nvSpPr>
        <p:spPr>
          <a:xfrm>
            <a:off x="5719646" y="4385903"/>
            <a:ext cx="6200000" cy="2106971"/>
          </a:xfrm>
          <a:prstGeom prst="roundRect">
            <a:avLst>
              <a:gd name="adj" fmla="val 6000"/>
            </a:avLst>
          </a:prstGeom>
          <a:solidFill>
            <a:srgbClr val="EAF2FA"/>
          </a:solidFill>
          <a:ln w="12700">
            <a:solidFill>
              <a:srgbClr val="C7D9EC"/>
            </a:solidFill>
          </a:ln>
        </p:spPr>
        <p:txBody>
          <a:bodyPr wrap="square" lIns="182880" tIns="137160" rIns="182880" bIns="137160" anchor="t">
            <a:normAutofit lnSpcReduction="10000"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Aft>
                <a:spcPts val="700"/>
              </a:spcAft>
            </a:pPr>
            <a:r>
              <a:rPr lang="en-US" b="1" dirty="0"/>
              <a:t>Key Datasets Used:</a:t>
            </a:r>
          </a:p>
          <a:p>
            <a:pPr marL="285750" indent="-285750">
              <a:lnSpc>
                <a:spcPct val="110000"/>
              </a:lnSpc>
              <a:spcAft>
                <a:spcPts val="400"/>
              </a:spcAft>
              <a:buClr>
                <a:srgbClr val="5A6B7A"/>
              </a:buClr>
              <a:buSzPct val="100000"/>
              <a:buChar char="●"/>
            </a:pPr>
            <a:r>
              <a:rPr lang="en-US" sz="12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Sentinel-1 SAR (cloud-penetrating): </a:t>
            </a:r>
            <a:r>
              <a:rPr lang="en-US" sz="1200" u="sng" dirty="0">
                <a:solidFill>
                  <a:srgbClr val="0563C1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2"/>
              </a:rPr>
              <a:t>sentinels.copernicus.eu</a:t>
            </a:r>
          </a:p>
          <a:p>
            <a:pPr marL="285750" indent="-285750">
              <a:lnSpc>
                <a:spcPct val="110000"/>
              </a:lnSpc>
              <a:spcAft>
                <a:spcPts val="400"/>
              </a:spcAft>
              <a:buClr>
                <a:srgbClr val="5A6B7A"/>
              </a:buClr>
              <a:buSzPct val="100000"/>
              <a:buChar char="●"/>
            </a:pPr>
            <a:r>
              <a:rPr lang="en-US" sz="12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NASA GPM IMERG Rainfall: </a:t>
            </a:r>
            <a:r>
              <a:rPr lang="en-US" sz="1200" u="sng" dirty="0">
                <a:solidFill>
                  <a:srgbClr val="0563C1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4"/>
              </a:rPr>
              <a:t>gpm.nasa.gov</a:t>
            </a:r>
          </a:p>
          <a:p>
            <a:pPr marL="285750" indent="-285750">
              <a:lnSpc>
                <a:spcPct val="110000"/>
              </a:lnSpc>
              <a:spcAft>
                <a:spcPts val="400"/>
              </a:spcAft>
              <a:buClr>
                <a:srgbClr val="5A6B7A"/>
              </a:buClr>
              <a:buSzPct val="100000"/>
              <a:buChar char="●"/>
            </a:pPr>
            <a:r>
              <a:rPr lang="en-US" sz="12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ISRO Bhuvan Cartosat DEM: </a:t>
            </a:r>
            <a:r>
              <a:rPr lang="en-US" sz="1200" u="sng" dirty="0">
                <a:solidFill>
                  <a:srgbClr val="0563C1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3"/>
              </a:rPr>
              <a:t>bhuvan.nrsc.gov.in</a:t>
            </a:r>
          </a:p>
          <a:p>
            <a:pPr marL="285750" indent="-285750">
              <a:lnSpc>
                <a:spcPct val="110000"/>
              </a:lnSpc>
              <a:spcAft>
                <a:spcPts val="400"/>
              </a:spcAft>
              <a:buClr>
                <a:srgbClr val="5A6B7A"/>
              </a:buClr>
              <a:buSzPct val="100000"/>
              <a:buChar char="●"/>
            </a:pPr>
            <a:r>
              <a:rPr lang="en-US" sz="12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NASA SMAP Soil Moisture: </a:t>
            </a:r>
            <a:r>
              <a:rPr lang="en-US" sz="1200" u="sng" dirty="0">
                <a:solidFill>
                  <a:srgbClr val="0563C1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6"/>
              </a:rPr>
              <a:t>smap.jpl.nasa.gov</a:t>
            </a:r>
          </a:p>
          <a:p>
            <a:pPr marL="285750" indent="-285750">
              <a:lnSpc>
                <a:spcPct val="110000"/>
              </a:lnSpc>
              <a:spcAft>
                <a:spcPts val="400"/>
              </a:spcAft>
              <a:buClr>
                <a:srgbClr val="5A6B7A"/>
              </a:buClr>
              <a:buSzPct val="100000"/>
              <a:buChar char="●"/>
            </a:pPr>
            <a:r>
              <a:rPr lang="en-US" sz="12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CWC River Gauge Data: </a:t>
            </a:r>
            <a:r>
              <a:rPr lang="en-US" sz="1200" u="sng" dirty="0">
                <a:solidFill>
                  <a:srgbClr val="0563C1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7"/>
              </a:rPr>
              <a:t>cwc.gov.in</a:t>
            </a:r>
          </a:p>
          <a:p>
            <a:pPr marL="285750" indent="-285750">
              <a:lnSpc>
                <a:spcPct val="110000"/>
              </a:lnSpc>
              <a:spcAft>
                <a:spcPts val="400"/>
              </a:spcAft>
              <a:buClr>
                <a:srgbClr val="5A6B7A"/>
              </a:buClr>
              <a:buSzPct val="100000"/>
              <a:buChar char="●"/>
            </a:pPr>
            <a:r>
              <a:rPr lang="en-US" sz="12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IMD Doppler Weather Radar: </a:t>
            </a:r>
            <a:r>
              <a:rPr lang="en-US" sz="1200" u="sng" dirty="0">
                <a:solidFill>
                  <a:srgbClr val="0563C1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8"/>
              </a:rPr>
              <a:t>mausam.imd.gov.in</a:t>
            </a:r>
          </a:p>
        </p:txBody>
      </p:sp>
      <p:sp>
        <p:nvSpPr>
          <p:cNvPr id="11" name="Future Scope Box">
            <a:extLst>
              <a:ext uri="{FF2B5EF4-FFF2-40B4-BE49-F238E27FC236}">
                <a16:creationId xmlns:a16="http://schemas.microsoft.com/office/drawing/2014/main" id="{68D65ABD-3928-46E8-59AE-2CF9E9717FC2}"/>
              </a:ext>
            </a:extLst>
          </p:cNvPr>
          <p:cNvSpPr/>
          <p:nvPr/>
        </p:nvSpPr>
        <p:spPr>
          <a:xfrm>
            <a:off x="5719646" y="1175141"/>
            <a:ext cx="6200000" cy="3022609"/>
          </a:xfrm>
          <a:prstGeom prst="roundRect">
            <a:avLst>
              <a:gd name="adj" fmla="val 6000"/>
            </a:avLst>
          </a:prstGeom>
          <a:solidFill>
            <a:srgbClr val="EAF2FA"/>
          </a:solidFill>
          <a:ln w="12700">
            <a:solidFill>
              <a:srgbClr val="C7D9EC"/>
            </a:solidFill>
          </a:ln>
        </p:spPr>
        <p:txBody>
          <a:bodyPr wrap="square" lIns="182880" tIns="182880" rIns="182880" bIns="182880" anchor="t">
            <a:normAutofit lnSpcReduction="10000"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Aft>
                <a:spcPts val="1000"/>
              </a:spcAft>
            </a:pPr>
            <a:r>
              <a:rPr lang="en-US" b="1" dirty="0"/>
              <a:t>Future Scopes:</a:t>
            </a:r>
          </a:p>
          <a:p>
            <a:pPr marL="0" indent="0">
              <a:lnSpc>
                <a:spcPct val="105000"/>
              </a:lnSpc>
              <a:spcAft>
                <a:spcPts val="200"/>
              </a:spcAft>
            </a:pPr>
            <a:r>
              <a:rPr lang="en-US" sz="14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 Media Validation: </a:t>
            </a:r>
            <a:r>
              <a:rPr lang="en-US" sz="12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Cross-check sensor-predicted hazard zones against geotagged Instagram posts and flag misinformation to authorities.</a:t>
            </a:r>
          </a:p>
          <a:p>
            <a:pPr marL="0" indent="0">
              <a:lnSpc>
                <a:spcPct val="105000"/>
              </a:lnSpc>
              <a:spcAft>
                <a:spcPts val="200"/>
              </a:spcAft>
            </a:pPr>
            <a:r>
              <a:rPr lang="en-US" sz="14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 Network Expansion: </a:t>
            </a:r>
            <a:r>
              <a:rPr lang="en-US" sz="12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 the 1,000+ node IoT sensor network to more Himalayan and North-East India river basins.</a:t>
            </a:r>
          </a:p>
          <a:p>
            <a:pPr marL="0" indent="0">
              <a:lnSpc>
                <a:spcPct val="105000"/>
              </a:lnSpc>
              <a:spcAft>
                <a:spcPts val="200"/>
              </a:spcAft>
            </a:pPr>
            <a:r>
              <a:rPr lang="en-US" sz="14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Drone Damage Assessment: </a:t>
            </a:r>
            <a:r>
              <a:rPr lang="en-US" sz="12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drone-based post-event surveys feeding directly into the 3D WebGIS digital twin model.</a:t>
            </a:r>
          </a:p>
          <a:p>
            <a:pPr marL="0" indent="0">
              <a:lnSpc>
                <a:spcPct val="105000"/>
              </a:lnSpc>
              <a:spcAft>
                <a:spcPts val="200"/>
              </a:spcAft>
            </a:pPr>
            <a:r>
              <a:rPr lang="en-US" sz="14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Multilingual Voice Alerts:</a:t>
            </a:r>
            <a:r>
              <a:rPr lang="en-US" sz="12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Enable IVR alerts in local languages for low-literacy and elderly village residents nearby.</a:t>
            </a:r>
          </a:p>
          <a:p>
            <a:pPr marL="0" indent="0">
              <a:lnSpc>
                <a:spcPct val="105000"/>
              </a:lnSpc>
              <a:spcAft>
                <a:spcPts val="200"/>
              </a:spcAft>
            </a:pPr>
            <a:r>
              <a:rPr lang="en-US" sz="14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BRO Dispatch: </a:t>
            </a:r>
            <a:r>
              <a:rPr lang="en-US" sz="12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 with BRO's machinery fleet to auto-dispatch JCBs toward blocked mountain highway passes.</a:t>
            </a:r>
          </a:p>
        </p:txBody>
      </p:sp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8410</TotalTime>
  <Words>1285</Words>
  <Application>Microsoft Office PowerPoint</Application>
  <PresentationFormat>Widescreen</PresentationFormat>
  <Paragraphs>150</Paragraphs>
  <Slides>6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6" baseType="lpstr">
      <vt:lpstr>ＭＳ Ｐゴシック</vt:lpstr>
      <vt:lpstr>Arial</vt:lpstr>
      <vt:lpstr>Book Antiqua</vt:lpstr>
      <vt:lpstr>Calibri</vt:lpstr>
      <vt:lpstr>Courier New</vt:lpstr>
      <vt:lpstr>Garamond</vt:lpstr>
      <vt:lpstr>Times New Roman</vt:lpstr>
      <vt:lpstr>TradeGothic</vt:lpstr>
      <vt:lpstr>Wingdings</vt:lpstr>
      <vt:lpstr>Office Theme</vt:lpstr>
      <vt:lpstr>SMART INDIA HACKATHON 2026</vt:lpstr>
      <vt:lpstr> Flash Flood Prediction System for Hilly Regions using Multi-Source Data Theme</vt:lpstr>
      <vt:lpstr>TECHNICAL APPROACH</vt:lpstr>
      <vt:lpstr>FEASIBILITY AND VIABILITY</vt:lpstr>
      <vt:lpstr>IMPACT AND BENEFITS</vt:lpstr>
      <vt:lpstr>RESEARCH  AND REFERENCES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Abhinav Purohit</cp:lastModifiedBy>
  <cp:revision>166</cp:revision>
  <dcterms:created xsi:type="dcterms:W3CDTF">2013-12-12T18:46:50Z</dcterms:created>
  <dcterms:modified xsi:type="dcterms:W3CDTF">2026-09-05T22:00:10Z</dcterms:modified>
  <cp:category/>
</cp:coreProperties>
</file>