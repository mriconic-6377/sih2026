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8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7316"/>
    <a:srgbClr val="DBE6F1"/>
    <a:srgbClr val="F8FAFC"/>
    <a:srgbClr val="87888C"/>
    <a:srgbClr val="111827"/>
    <a:srgbClr val="0F172A"/>
    <a:srgbClr val="2C3639"/>
    <a:srgbClr val="3F4E4F"/>
    <a:srgbClr val="DCD7C9"/>
    <a:srgbClr val="E8DC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623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Physics-informed_neural_networks" TargetMode="External"/><Relationship Id="rId13" Type="http://schemas.openxmlformats.org/officeDocument/2006/relationships/hyperlink" Target="https://en.wikipedia.org/wiki/Manning_formula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hpsdma.nic.in" TargetMode="External"/><Relationship Id="rId12" Type="http://schemas.openxmlformats.org/officeDocument/2006/relationships/hyperlink" Target="https://en.wikipedia.org/wiki/Shallow_water_equation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huvan.nrsc.gov.in" TargetMode="External"/><Relationship Id="rId11" Type="http://schemas.openxmlformats.org/officeDocument/2006/relationships/hyperlink" Target="https://en.wikipedia.org/wiki/Infiltration_(hydrology)#Green_and_Ampt" TargetMode="External"/><Relationship Id="rId5" Type="http://schemas.openxmlformats.org/officeDocument/2006/relationships/hyperlink" Target="https://www.niti.gov.in" TargetMode="External"/><Relationship Id="rId15" Type="http://schemas.openxmlformats.org/officeDocument/2006/relationships/hyperlink" Target="https://en.wikipedia.org/wiki/Cartosat-1" TargetMode="External"/><Relationship Id="rId10" Type="http://schemas.openxmlformats.org/officeDocument/2006/relationships/hyperlink" Target="https://en.wikipedia.org/wiki/Slope_stability_analysis" TargetMode="External"/><Relationship Id="rId4" Type="http://schemas.openxmlformats.org/officeDocument/2006/relationships/hyperlink" Target="https://ndma.gov.in/Governance/Guidelines" TargetMode="External"/><Relationship Id="rId9" Type="http://schemas.openxmlformats.org/officeDocument/2006/relationships/hyperlink" Target="https://en.wikipedia.org/wiki/Mohr%E2%80%93Coulomb_theory" TargetMode="External"/><Relationship Id="rId14" Type="http://schemas.openxmlformats.org/officeDocument/2006/relationships/hyperlink" Target="https://en.wikipedia.org/wiki/Bridge_scou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8550" y="1085665"/>
            <a:ext cx="9055508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SIH-26192</a:t>
            </a:r>
          </a:p>
          <a:p>
            <a:pPr algn="just">
              <a:lnSpc>
                <a:spcPct val="1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Flash Flood 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Prediction System for Hilly Regions using 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Multi-Source Data.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Disaster Management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159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RUNTIME TERROR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715432"/>
            <a:ext cx="12191999" cy="1425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30477" y="-209843"/>
            <a:ext cx="8308258" cy="766484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Flash Flood Prediction System for Hilly Regions using Multi-Source Data Theme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604153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9273" y="87429"/>
            <a:ext cx="1631204" cy="6997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Runtime Terror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A06DFC0-10B0-C232-B238-1C9D1A80A5F7}"/>
              </a:ext>
            </a:extLst>
          </p:cNvPr>
          <p:cNvSpPr/>
          <p:nvPr/>
        </p:nvSpPr>
        <p:spPr>
          <a:xfrm>
            <a:off x="151416" y="1136048"/>
            <a:ext cx="3993862" cy="1685709"/>
          </a:xfrm>
          <a:prstGeom prst="rect">
            <a:avLst/>
          </a:prstGeom>
          <a:solidFill>
            <a:srgbClr val="DBE6F1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sz="1600" u="sng" dirty="0">
                <a:solidFill>
                  <a:srgbClr val="F97316"/>
                </a:solidFill>
              </a:rPr>
              <a:t>Challenge we’re solving</a:t>
            </a:r>
            <a:r>
              <a:rPr lang="en-US" sz="1600" dirty="0">
                <a:solidFill>
                  <a:srgbClr val="F97316"/>
                </a:solidFill>
              </a:rPr>
              <a:t>:</a:t>
            </a:r>
            <a:r>
              <a:rPr lang="en-US" sz="1400" dirty="0">
                <a:solidFill>
                  <a:schemeClr val="tx1"/>
                </a:solidFill>
              </a:rPr>
              <a:t> Hilly Himalayan states face sudden, catastrophic flash floods and cloudburst landslides. Over 44,000+ residents across the Beas Basin remain vulnerable due to cloud-blind optical satellites, cellular tower washouts, and black-box statistical AI with high false alarms, threatening life and critical highway lifelines under Digital India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80B9C79-B2C5-CBD9-343B-611C1D335B1C}"/>
              </a:ext>
            </a:extLst>
          </p:cNvPr>
          <p:cNvSpPr/>
          <p:nvPr/>
        </p:nvSpPr>
        <p:spPr>
          <a:xfrm>
            <a:off x="162821" y="3289350"/>
            <a:ext cx="3902428" cy="3316188"/>
          </a:xfrm>
          <a:prstGeom prst="rect">
            <a:avLst/>
          </a:prstGeom>
          <a:solidFill>
            <a:srgbClr val="DBE6F1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chemeClr val="tx1"/>
                </a:solidFill>
              </a:rPr>
              <a:t>Industrial-Grade Physics-AI Defense Suite: Delivering physically-verifiable early warning without cloud or power-grid dependency.</a:t>
            </a:r>
          </a:p>
          <a:p>
            <a:r>
              <a:rPr lang="en-US" sz="1400" u="sng" dirty="0">
                <a:solidFill>
                  <a:srgbClr val="F97316"/>
                </a:solidFill>
              </a:rPr>
              <a:t>1. Space-to-Ground Multi-Source Radar Fusion:</a:t>
            </a:r>
            <a:r>
              <a:rPr lang="en-US" dirty="0"/>
              <a:t> </a:t>
            </a:r>
            <a:r>
              <a:rPr lang="en-US" sz="1200" dirty="0">
                <a:solidFill>
                  <a:schemeClr val="tx1"/>
                </a:solidFill>
              </a:rPr>
              <a:t>Fuses Sentinel-1 C-Band InSAR and NASA GPM 0.1° satellite rain to penetrate dense monsoon clouds and track sub-surface slope saturation.</a:t>
            </a:r>
          </a:p>
          <a:p>
            <a:r>
              <a:rPr lang="en-US" sz="1400" u="sng" dirty="0">
                <a:solidFill>
                  <a:srgbClr val="F97316"/>
                </a:solidFill>
              </a:rPr>
              <a:t>2. Physics-Informed AI (PINN Core):</a:t>
            </a:r>
            <a:r>
              <a:rPr lang="en-US" dirty="0"/>
              <a:t> </a:t>
            </a:r>
            <a:r>
              <a:rPr lang="en-US" sz="1200" dirty="0">
                <a:solidFill>
                  <a:schemeClr val="tx1"/>
                </a:solidFill>
              </a:rPr>
              <a:t>Replaces black-box ML by embedding Mohr-Coulomb slope stability and 1D Saint-</a:t>
            </a:r>
            <a:r>
              <a:rPr lang="en-US" sz="1200" dirty="0" err="1">
                <a:solidFill>
                  <a:schemeClr val="tx1"/>
                </a:solidFill>
              </a:rPr>
              <a:t>Venant</a:t>
            </a:r>
            <a:r>
              <a:rPr lang="en-US" sz="1200" dirty="0">
                <a:solidFill>
                  <a:schemeClr val="tx1"/>
                </a:solidFill>
              </a:rPr>
              <a:t> hydraulic wave routing (R² = 0.9997) with sub-45ms execution.</a:t>
            </a:r>
          </a:p>
          <a:p>
            <a:r>
              <a:rPr lang="en-US" sz="1400" u="sng" dirty="0">
                <a:solidFill>
                  <a:srgbClr val="F97316"/>
                </a:solidFill>
              </a:rPr>
              <a:t>3. Fail-Safe Zero-Internet Life Defense:</a:t>
            </a:r>
            <a:r>
              <a:rPr lang="en-US" dirty="0"/>
              <a:t> </a:t>
            </a:r>
            <a:r>
              <a:rPr lang="en-US" sz="1200" dirty="0">
                <a:solidFill>
                  <a:schemeClr val="tx1"/>
                </a:solidFill>
              </a:rPr>
              <a:t>Autonomous solar </a:t>
            </a:r>
            <a:r>
              <a:rPr lang="en-US" sz="1200" dirty="0" err="1">
                <a:solidFill>
                  <a:schemeClr val="tx1"/>
                </a:solidFill>
              </a:rPr>
              <a:t>LoRaWAN</a:t>
            </a:r>
            <a:r>
              <a:rPr lang="en-US" sz="1200" dirty="0">
                <a:solidFill>
                  <a:schemeClr val="tx1"/>
                </a:solidFill>
              </a:rPr>
              <a:t> mesh and Zero-Touch Citizen Siren PWA trigger local 110dB sirens and Hindi voice evacuation alerts in under 1.5 seconds.</a:t>
            </a:r>
          </a:p>
          <a:p>
            <a:pPr>
              <a:spcAft>
                <a:spcPts val="600"/>
              </a:spcAft>
            </a:pP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3814482-F195-B27E-0AE8-747357045C1F}"/>
              </a:ext>
            </a:extLst>
          </p:cNvPr>
          <p:cNvSpPr/>
          <p:nvPr/>
        </p:nvSpPr>
        <p:spPr>
          <a:xfrm>
            <a:off x="4145278" y="4286287"/>
            <a:ext cx="4238288" cy="2317865"/>
          </a:xfrm>
          <a:prstGeom prst="rect">
            <a:avLst/>
          </a:prstGeom>
          <a:solidFill>
            <a:srgbClr val="DBE6F1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u="sng" dirty="0">
                <a:solidFill>
                  <a:srgbClr val="F97316"/>
                </a:solidFill>
              </a:rPr>
              <a:t>1. Overcoming Optical Cloud-Blindness:</a:t>
            </a:r>
            <a:r>
              <a:rPr lang="en-US" dirty="0"/>
              <a:t> </a:t>
            </a:r>
            <a:r>
              <a:rPr lang="en-US" sz="1200" dirty="0">
                <a:solidFill>
                  <a:schemeClr val="tx1"/>
                </a:solidFill>
              </a:rPr>
              <a:t>5.405 GHz C-Band microwave radar pierces 100% storm clouds to track 2–15 mm/week subterranean mountain creep weeks in advance.</a:t>
            </a:r>
          </a:p>
          <a:p>
            <a:r>
              <a:rPr lang="en-US" sz="1400" u="sng" dirty="0">
                <a:solidFill>
                  <a:srgbClr val="F97316"/>
                </a:solidFill>
              </a:rPr>
              <a:t>2. Eliminating Black-Box False Alarms:</a:t>
            </a:r>
            <a:r>
              <a:rPr lang="en-US" dirty="0"/>
              <a:t> </a:t>
            </a:r>
            <a:r>
              <a:rPr lang="en-US" sz="1200" dirty="0">
                <a:solidFill>
                  <a:schemeClr val="tx1"/>
                </a:solidFill>
              </a:rPr>
              <a:t>Incorporates Green-</a:t>
            </a:r>
            <a:r>
              <a:rPr lang="en-US" sz="1200" dirty="0" err="1">
                <a:solidFill>
                  <a:schemeClr val="tx1"/>
                </a:solidFill>
              </a:rPr>
              <a:t>Ampt</a:t>
            </a:r>
            <a:r>
              <a:rPr lang="en-US" sz="1200" dirty="0">
                <a:solidFill>
                  <a:schemeClr val="tx1"/>
                </a:solidFill>
              </a:rPr>
              <a:t> pore water pressure (</a:t>
            </a:r>
            <a:r>
              <a:rPr lang="en-US" sz="1200" dirty="0" err="1">
                <a:solidFill>
                  <a:schemeClr val="tx1"/>
                </a:solidFill>
              </a:rPr>
              <a:t>uw</a:t>
            </a:r>
            <a:r>
              <a:rPr lang="en-US" sz="1200" dirty="0">
                <a:solidFill>
                  <a:schemeClr val="tx1"/>
                </a:solidFill>
              </a:rPr>
              <a:t>) and terrain steepness (β &gt; 32°) into neural loss functions, preventing alarm fatigue.</a:t>
            </a:r>
          </a:p>
          <a:p>
            <a:r>
              <a:rPr lang="en-US" sz="1400" u="sng" dirty="0">
                <a:solidFill>
                  <a:srgbClr val="F97316"/>
                </a:solidFill>
              </a:rPr>
              <a:t>3. Surviving Telecom &amp; Power Blackouts:</a:t>
            </a:r>
            <a:r>
              <a:rPr lang="en-US" dirty="0"/>
              <a:t> </a:t>
            </a:r>
            <a:r>
              <a:rPr lang="en-US" sz="1200" dirty="0">
                <a:solidFill>
                  <a:schemeClr val="tx1"/>
                </a:solidFill>
              </a:rPr>
              <a:t>Solar-powered peer-to-peer LoRa radio mesh operates independently of destroyed cellular towers to guarantee 100% alert delivery.</a:t>
            </a:r>
          </a:p>
          <a:p>
            <a:pPr>
              <a:spcAft>
                <a:spcPts val="600"/>
              </a:spcAft>
            </a:pP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2913AC-2A7B-C51D-F2F1-39E1E52CD242}"/>
              </a:ext>
            </a:extLst>
          </p:cNvPr>
          <p:cNvSpPr txBox="1"/>
          <p:nvPr/>
        </p:nvSpPr>
        <p:spPr>
          <a:xfrm>
            <a:off x="4046004" y="3916955"/>
            <a:ext cx="2996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Addressing The Core Problem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26F1717-8EDC-7048-5216-84B92867DDFC}"/>
              </a:ext>
            </a:extLst>
          </p:cNvPr>
          <p:cNvSpPr txBox="1"/>
          <p:nvPr/>
        </p:nvSpPr>
        <p:spPr>
          <a:xfrm>
            <a:off x="65502" y="2920018"/>
            <a:ext cx="284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Our Revolutionary Solution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5D1D241-9575-069B-7466-927DF07CA9BD}"/>
              </a:ext>
            </a:extLst>
          </p:cNvPr>
          <p:cNvSpPr/>
          <p:nvPr/>
        </p:nvSpPr>
        <p:spPr>
          <a:xfrm>
            <a:off x="8560914" y="1542150"/>
            <a:ext cx="3565584" cy="5062002"/>
          </a:xfrm>
          <a:prstGeom prst="rect">
            <a:avLst/>
          </a:prstGeom>
          <a:solidFill>
            <a:srgbClr val="DBE6F1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sz="1400" u="sng" dirty="0">
                <a:solidFill>
                  <a:srgbClr val="F97316"/>
                </a:solidFill>
              </a:rPr>
              <a:t>1. Cloud-Piercing InSAR &amp; GLOF Radar: </a:t>
            </a:r>
            <a:r>
              <a:rPr lang="en-US" sz="1200" dirty="0">
                <a:solidFill>
                  <a:schemeClr val="tx1"/>
                </a:solidFill>
              </a:rPr>
              <a:t>Sentinel-1 C-Band SAR pierces 100% storm clouds to track 2–15 mm/</a:t>
            </a:r>
            <a:r>
              <a:rPr lang="en-US" sz="1200" dirty="0" err="1">
                <a:solidFill>
                  <a:schemeClr val="tx1"/>
                </a:solidFill>
              </a:rPr>
              <a:t>wk</a:t>
            </a:r>
            <a:r>
              <a:rPr lang="en-US" sz="1200" dirty="0">
                <a:solidFill>
                  <a:schemeClr val="tx1"/>
                </a:solidFill>
              </a:rPr>
              <a:t> mountain creep &amp; high-altitude glacial lake breach risks.</a:t>
            </a:r>
          </a:p>
          <a:p>
            <a:pPr>
              <a:spcAft>
                <a:spcPts val="600"/>
              </a:spcAft>
            </a:pPr>
            <a:r>
              <a:rPr lang="en-US" sz="1400" u="sng" dirty="0">
                <a:solidFill>
                  <a:srgbClr val="F97316"/>
                </a:solidFill>
              </a:rPr>
              <a:t>2. Physics-Informed AI (PINN Core): </a:t>
            </a:r>
            <a:r>
              <a:rPr lang="en-US" sz="1200" dirty="0">
                <a:solidFill>
                  <a:schemeClr val="tx1"/>
                </a:solidFill>
              </a:rPr>
              <a:t>Embeds Mohr-Coulomb shear &amp; 1D Saint-</a:t>
            </a:r>
            <a:r>
              <a:rPr lang="en-US" sz="1200" dirty="0" err="1">
                <a:solidFill>
                  <a:schemeClr val="tx1"/>
                </a:solidFill>
              </a:rPr>
              <a:t>Venant</a:t>
            </a:r>
            <a:r>
              <a:rPr lang="en-US" sz="1200" dirty="0">
                <a:solidFill>
                  <a:schemeClr val="tx1"/>
                </a:solidFill>
              </a:rPr>
              <a:t> hydraulic laws in </a:t>
            </a:r>
            <a:r>
              <a:rPr lang="en-US" sz="1200" dirty="0" err="1">
                <a:solidFill>
                  <a:schemeClr val="tx1"/>
                </a:solidFill>
              </a:rPr>
              <a:t>PyTorch</a:t>
            </a:r>
            <a:r>
              <a:rPr lang="en-US" sz="1200" dirty="0">
                <a:solidFill>
                  <a:schemeClr val="tx1"/>
                </a:solidFill>
              </a:rPr>
              <a:t>, achieving near-perfect R² = 0.9997 with zero false alarms.</a:t>
            </a:r>
          </a:p>
          <a:p>
            <a:pPr>
              <a:spcAft>
                <a:spcPts val="600"/>
              </a:spcAft>
            </a:pPr>
            <a:r>
              <a:rPr lang="en-US" sz="1400" u="sng" dirty="0">
                <a:solidFill>
                  <a:srgbClr val="F97316"/>
                </a:solidFill>
              </a:rPr>
              <a:t>3. Zero-Internet Solar LoRa Mesh: </a:t>
            </a:r>
            <a:r>
              <a:rPr lang="en-US" sz="1200" dirty="0">
                <a:solidFill>
                  <a:schemeClr val="tx1"/>
                </a:solidFill>
              </a:rPr>
              <a:t>Autonomous 868 MHz peer-to-peer radio network triggers 110dB sirens &amp; automated road boom gates in &lt;1.5s during grid blackouts.</a:t>
            </a:r>
          </a:p>
          <a:p>
            <a:pPr>
              <a:spcAft>
                <a:spcPts val="600"/>
              </a:spcAft>
            </a:pPr>
            <a:r>
              <a:rPr lang="en-US" sz="1400" u="sng" dirty="0">
                <a:solidFill>
                  <a:srgbClr val="F97316"/>
                </a:solidFill>
              </a:rPr>
              <a:t>4. Multi-Hazard Cascading Domino: </a:t>
            </a:r>
            <a:r>
              <a:rPr lang="en-US" sz="1200" dirty="0">
                <a:solidFill>
                  <a:schemeClr val="tx1"/>
                </a:solidFill>
              </a:rPr>
              <a:t>Sequentially tracks disaster chain reaction: Mountain Creep ➔ Slurry Damming (</a:t>
            </a:r>
            <a:r>
              <a:rPr lang="en-US" sz="1200" dirty="0" err="1">
                <a:solidFill>
                  <a:schemeClr val="tx1"/>
                </a:solidFill>
              </a:rPr>
              <a:t>Rock+Ice+Mud</a:t>
            </a:r>
            <a:r>
              <a:rPr lang="en-US" sz="1200" dirty="0">
                <a:solidFill>
                  <a:schemeClr val="tx1"/>
                </a:solidFill>
              </a:rPr>
              <a:t>) ➔ Canyon Surge ➔ Bridge Scour.</a:t>
            </a:r>
          </a:p>
          <a:p>
            <a:pPr>
              <a:spcAft>
                <a:spcPts val="600"/>
              </a:spcAft>
            </a:pPr>
            <a:r>
              <a:rPr lang="en-US" sz="1400" u="sng" dirty="0">
                <a:solidFill>
                  <a:srgbClr val="F97316"/>
                </a:solidFill>
              </a:rPr>
              <a:t>5. Zero-Touch Citizen Siren PWA: </a:t>
            </a:r>
            <a:r>
              <a:rPr lang="en-US" sz="1200" dirty="0">
                <a:solidFill>
                  <a:schemeClr val="tx1"/>
                </a:solidFill>
              </a:rPr>
              <a:t>Sub-30ms remote dispatch waking sleeping residents by bypassing Silent/DND modes with 120dB acoustics &amp; Hindi voice guidance.</a:t>
            </a:r>
          </a:p>
          <a:p>
            <a:pPr>
              <a:spcAft>
                <a:spcPts val="600"/>
              </a:spcAft>
            </a:pPr>
            <a:r>
              <a:rPr lang="en-US" sz="1400" u="sng" dirty="0">
                <a:solidFill>
                  <a:srgbClr val="F97316"/>
                </a:solidFill>
              </a:rPr>
              <a:t>6. Predictive Bridge Scour &amp; BRO Bypass: </a:t>
            </a:r>
            <a:r>
              <a:rPr lang="en-US" sz="1200" dirty="0">
                <a:solidFill>
                  <a:schemeClr val="tx1"/>
                </a:solidFill>
              </a:rPr>
              <a:t>Predicts pier scour failure (vs &gt; 5 m/s) and auto-reroutes relief convoys to the elevated BRO Route 2A Ridge Bypass.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316739A-254C-A20C-74C3-9E086CAE7B92}"/>
              </a:ext>
            </a:extLst>
          </p:cNvPr>
          <p:cNvSpPr txBox="1"/>
          <p:nvPr/>
        </p:nvSpPr>
        <p:spPr>
          <a:xfrm>
            <a:off x="8482839" y="1172817"/>
            <a:ext cx="2594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What Makes Us Different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C52561-3044-E0BE-9D52-19CA14052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640" y="958111"/>
            <a:ext cx="3789921" cy="29588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13">
            <a:extLst>
              <a:ext uri="{FF2B5EF4-FFF2-40B4-BE49-F238E27FC236}">
                <a16:creationId xmlns:a16="http://schemas.microsoft.com/office/drawing/2014/main" id="{BFDE5D24-D792-6A08-E1B8-DE61DBD0E025}"/>
              </a:ext>
            </a:extLst>
          </p:cNvPr>
          <p:cNvSpPr/>
          <p:nvPr/>
        </p:nvSpPr>
        <p:spPr>
          <a:xfrm>
            <a:off x="7285703" y="1018093"/>
            <a:ext cx="4782282" cy="4534562"/>
          </a:xfrm>
          <a:custGeom>
            <a:avLst/>
            <a:gdLst/>
            <a:ahLst/>
            <a:cxnLst/>
            <a:rect l="l" t="t" r="r" b="b"/>
            <a:pathLst>
              <a:path w="8072755" h="5083809">
                <a:moveTo>
                  <a:pt x="0" y="0"/>
                </a:moveTo>
                <a:lnTo>
                  <a:pt x="8072436" y="0"/>
                </a:lnTo>
                <a:lnTo>
                  <a:pt x="8072436" y="5083739"/>
                </a:lnTo>
                <a:lnTo>
                  <a:pt x="0" y="5083739"/>
                </a:lnTo>
                <a:lnTo>
                  <a:pt x="0" y="0"/>
                </a:lnTo>
                <a:close/>
              </a:path>
            </a:pathLst>
          </a:custGeom>
          <a:ln w="1714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12">
            <a:extLst>
              <a:ext uri="{FF2B5EF4-FFF2-40B4-BE49-F238E27FC236}">
                <a16:creationId xmlns:a16="http://schemas.microsoft.com/office/drawing/2014/main" id="{46369A83-F489-7313-81BE-7BE48742357F}"/>
              </a:ext>
            </a:extLst>
          </p:cNvPr>
          <p:cNvSpPr/>
          <p:nvPr/>
        </p:nvSpPr>
        <p:spPr>
          <a:xfrm>
            <a:off x="7304531" y="1034973"/>
            <a:ext cx="4763454" cy="4517681"/>
          </a:xfrm>
          <a:custGeom>
            <a:avLst/>
            <a:gdLst/>
            <a:ahLst/>
            <a:cxnLst/>
            <a:rect l="l" t="t" r="r" b="b"/>
            <a:pathLst>
              <a:path w="8072755" h="5084445">
                <a:moveTo>
                  <a:pt x="8072570" y="5083824"/>
                </a:moveTo>
                <a:lnTo>
                  <a:pt x="0" y="5083824"/>
                </a:lnTo>
                <a:lnTo>
                  <a:pt x="0" y="0"/>
                </a:lnTo>
                <a:lnTo>
                  <a:pt x="8072570" y="0"/>
                </a:lnTo>
                <a:lnTo>
                  <a:pt x="8072570" y="5083824"/>
                </a:lnTo>
                <a:close/>
              </a:path>
            </a:pathLst>
          </a:custGeom>
          <a:solidFill>
            <a:srgbClr val="DBE6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5" y="128016"/>
            <a:ext cx="1632422" cy="80417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Runtime Terror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3D6E98-3695-8C9C-CE49-2BF885640E9E}"/>
              </a:ext>
            </a:extLst>
          </p:cNvPr>
          <p:cNvSpPr txBox="1"/>
          <p:nvPr/>
        </p:nvSpPr>
        <p:spPr>
          <a:xfrm>
            <a:off x="7355794" y="1094876"/>
            <a:ext cx="472160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u="sng" dirty="0"/>
              <a:t>ARCHITECTURE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u="sng" dirty="0">
                <a:latin typeface="Book Antiqua" panose="02040602050305030304" pitchFamily="18" charset="0"/>
              </a:rPr>
              <a:t>Multi-Source Data Ingestion</a:t>
            </a:r>
            <a:r>
              <a:rPr lang="en-IN" sz="1200" dirty="0"/>
              <a:t>: </a:t>
            </a:r>
            <a:r>
              <a:rPr lang="en-US" sz="1200" dirty="0">
                <a:ea typeface="Calibri" panose="020F0502020204030204" pitchFamily="34" charset="0"/>
                <a:cs typeface="Calibri" panose="020F0502020204030204" pitchFamily="34" charset="0"/>
              </a:rPr>
              <a:t>Collects live telemetry from 8 IoT stations, IMD weather, NASA GPM satellite rain, and ISRO </a:t>
            </a:r>
            <a:r>
              <a:rPr lang="en-US" sz="1200" dirty="0" err="1">
                <a:ea typeface="Calibri" panose="020F0502020204030204" pitchFamily="34" charset="0"/>
                <a:cs typeface="Calibri" panose="020F0502020204030204" pitchFamily="34" charset="0"/>
              </a:rPr>
              <a:t>Cartosat</a:t>
            </a:r>
            <a:r>
              <a:rPr lang="en-US" sz="1200" dirty="0">
                <a:ea typeface="Calibri" panose="020F0502020204030204" pitchFamily="34" charset="0"/>
                <a:cs typeface="Calibri" panose="020F0502020204030204" pitchFamily="34" charset="0"/>
              </a:rPr>
              <a:t> DEM</a:t>
            </a:r>
            <a:endParaRPr lang="en-IN" sz="12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u="sng" dirty="0">
                <a:latin typeface="Book Antiqua" panose="02040602050305030304" pitchFamily="18" charset="0"/>
              </a:rPr>
              <a:t>Physics-AI Fusion Engine</a:t>
            </a:r>
            <a:r>
              <a:rPr lang="en-US" sz="1200" dirty="0"/>
              <a:t>: Runs Green-</a:t>
            </a:r>
            <a:r>
              <a:rPr lang="en-US" sz="1200" dirty="0" err="1"/>
              <a:t>Ampt</a:t>
            </a:r>
            <a:r>
              <a:rPr lang="en-US" sz="1200" dirty="0"/>
              <a:t> infiltration and Mohr-Coulomb slope stability on PINN core to compute Factor of Safety (Fs).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u="sng" dirty="0">
                <a:latin typeface="Book Antiqua" panose="02040602050305030304" pitchFamily="18" charset="0"/>
              </a:rPr>
              <a:t>1D Hydrodynamic Wave Routing</a:t>
            </a:r>
            <a:r>
              <a:rPr lang="en-US" sz="1200" dirty="0"/>
              <a:t>: Solves 1D St. </a:t>
            </a:r>
            <a:r>
              <a:rPr lang="en-US" sz="1200" dirty="0" err="1"/>
              <a:t>Venant</a:t>
            </a:r>
            <a:r>
              <a:rPr lang="en-US" sz="1200" dirty="0"/>
              <a:t> shallow water wave speed and Manning discharge to calculate exact evacuation lead times.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u="sng" dirty="0">
                <a:latin typeface="Book Antiqua" panose="02040602050305030304" pitchFamily="18" charset="0"/>
              </a:rPr>
              <a:t>Standardized Alerting</a:t>
            </a:r>
            <a:r>
              <a:rPr lang="en-US" sz="1200" dirty="0"/>
              <a:t>: Dispatches NDMA CAP v1.2 XML emergency alerts and triggers offline 868 MHz LoRa mesh sirens in &lt; 1.5s.</a:t>
            </a:r>
            <a:endParaRPr lang="en-IN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4B952A-C60B-A9C3-5FFE-41BC7996C3A4}"/>
              </a:ext>
            </a:extLst>
          </p:cNvPr>
          <p:cNvSpPr txBox="1"/>
          <p:nvPr/>
        </p:nvSpPr>
        <p:spPr>
          <a:xfrm>
            <a:off x="7327151" y="3408282"/>
            <a:ext cx="468519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u="sng" dirty="0"/>
              <a:t>COMPONENTS</a:t>
            </a:r>
            <a:endParaRPr lang="en-IN" sz="1200" b="1" u="sng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u="sng" dirty="0">
                <a:latin typeface="Book Antiqua" panose="02040602050305030304" pitchFamily="18" charset="0"/>
              </a:rPr>
              <a:t>Operational Command Console</a:t>
            </a:r>
            <a:r>
              <a:rPr lang="en-US" sz="1200" dirty="0"/>
              <a:t>: Built with React 19 &amp; Leaflet GIS, displays dynamic Red Zones, 6 habitations, and GLOF lake watch.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u="sng" dirty="0" err="1">
                <a:latin typeface="Book Antiqua" panose="02040602050305030304" pitchFamily="18" charset="0"/>
              </a:rPr>
              <a:t>FastAPI</a:t>
            </a:r>
            <a:r>
              <a:rPr lang="en-US" sz="1200" u="sng" dirty="0">
                <a:latin typeface="Book Antiqua" panose="02040602050305030304" pitchFamily="18" charset="0"/>
              </a:rPr>
              <a:t> Backend Bus</a:t>
            </a:r>
            <a:r>
              <a:rPr lang="en-US" sz="1200" dirty="0"/>
              <a:t>: High-speed asynchronous Python engine managing WebSocket telemetry and scenario state synchronization.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u="sng" dirty="0">
                <a:latin typeface="Book Antiqua" panose="02040602050305030304" pitchFamily="18" charset="0"/>
              </a:rPr>
              <a:t>PINN Physics Core</a:t>
            </a:r>
            <a:r>
              <a:rPr lang="en-US" sz="1200" dirty="0"/>
              <a:t>: Embedded geotechnical and hydrodynamic equations ensuring zero unphysical hallucinations (R² = 0.9997).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u="sng" dirty="0">
                <a:latin typeface="Book Antiqua" panose="02040602050305030304" pitchFamily="18" charset="0"/>
              </a:rPr>
              <a:t>SHAP Explainability Engine</a:t>
            </a:r>
            <a:r>
              <a:rPr lang="en-US" sz="1200" dirty="0"/>
              <a:t>: Quantifies feature contributions to give evidence-backed disaster drivers for disaster managers.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>
                <a:ea typeface="Calibri" panose="020F0502020204030204" pitchFamily="34" charset="0"/>
                <a:cs typeface="Calibri" panose="020F0502020204030204" pitchFamily="34" charset="0"/>
              </a:rPr>
              <a:t>Zero-internet solar LoRa mesh triggers sirens during blackouts.</a:t>
            </a:r>
            <a:endParaRPr lang="en-IN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73E150-91AF-FF7C-4506-25E8FA615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0325"/>
            <a:ext cx="7197213" cy="46863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C3CB46-87BD-4DD4-20F1-825A659967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31" t="13647" b="15807"/>
          <a:stretch>
            <a:fillRect/>
          </a:stretch>
        </p:blipFill>
        <p:spPr>
          <a:xfrm>
            <a:off x="141515" y="5914782"/>
            <a:ext cx="11870831" cy="8861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5FF5C5-58C7-D7D0-B8CF-0E6B0CD42C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642" y="17989"/>
            <a:ext cx="1824957" cy="86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659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5754"/>
            <a:ext cx="12191999" cy="25224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199" y="6538915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41283" y="93464"/>
            <a:ext cx="1430201" cy="67331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Runtime Terror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CB7E144-FDF7-33FB-0C0D-47E7F2069673}"/>
              </a:ext>
            </a:extLst>
          </p:cNvPr>
          <p:cNvSpPr/>
          <p:nvPr/>
        </p:nvSpPr>
        <p:spPr>
          <a:xfrm>
            <a:off x="131972" y="1098478"/>
            <a:ext cx="4422961" cy="1286592"/>
          </a:xfrm>
          <a:prstGeom prst="rect">
            <a:avLst/>
          </a:prstGeom>
          <a:solidFill>
            <a:srgbClr val="DBE6F1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u="sng" dirty="0">
                <a:solidFill>
                  <a:srgbClr val="F97316"/>
                </a:solidFill>
              </a:rPr>
              <a:t>• Open-Access Space Radar:</a:t>
            </a:r>
            <a:r>
              <a:rPr lang="en-US" sz="1200" dirty="0">
                <a:solidFill>
                  <a:schemeClr val="tx1"/>
                </a:solidFill>
              </a:rPr>
              <a:t> Utilizes free Sentinel-1 SAR and NASA GPM IMERG feeds, eliminating recurring software/data licensing costs (₹0 Data </a:t>
            </a:r>
            <a:r>
              <a:rPr lang="en-US" sz="1200" dirty="0" err="1">
                <a:solidFill>
                  <a:schemeClr val="tx1"/>
                </a:solidFill>
              </a:rPr>
              <a:t>OpEx</a:t>
            </a:r>
            <a:r>
              <a:rPr lang="en-US" sz="1200" dirty="0">
                <a:solidFill>
                  <a:schemeClr val="tx1"/>
                </a:solidFill>
              </a:rPr>
              <a:t>).</a:t>
            </a:r>
          </a:p>
          <a:p>
            <a:r>
              <a:rPr lang="en-US" sz="1400" u="sng" dirty="0">
                <a:solidFill>
                  <a:srgbClr val="F97316"/>
                </a:solidFill>
              </a:rPr>
              <a:t>• Lightweight Physics AI:</a:t>
            </a:r>
            <a:r>
              <a:rPr lang="en-US" sz="1200" dirty="0">
                <a:solidFill>
                  <a:schemeClr val="tx1"/>
                </a:solidFill>
              </a:rPr>
              <a:t> PINN inference executes in sub-45ms on edge microcontrollers (ESP32-S3), avoiding heavy GPU cloud infrastructure costs.</a:t>
            </a:r>
          </a:p>
          <a:p>
            <a:pPr>
              <a:spcAft>
                <a:spcPts val="600"/>
              </a:spcAft>
            </a:pP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81507B-3704-3EF5-EE4B-9319804D2222}"/>
              </a:ext>
            </a:extLst>
          </p:cNvPr>
          <p:cNvSpPr/>
          <p:nvPr/>
        </p:nvSpPr>
        <p:spPr>
          <a:xfrm>
            <a:off x="126278" y="2737211"/>
            <a:ext cx="4428655" cy="1609618"/>
          </a:xfrm>
          <a:prstGeom prst="rect">
            <a:avLst/>
          </a:prstGeom>
          <a:solidFill>
            <a:srgbClr val="DBE6F1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• 100% Solar Off-Grid Autonomy: Operates for 14 continuous days without sunlight on a 3.7V 3000mAh LiFePO4 battery (&lt;15µA standby current).</a:t>
            </a:r>
          </a:p>
          <a:p>
            <a:r>
              <a:rPr lang="en-US" sz="1200" dirty="0">
                <a:solidFill>
                  <a:schemeClr val="tx1"/>
                </a:solidFill>
              </a:rPr>
              <a:t>• Mountain Mesh Range: Achieves 12–15 km Line-of-Sight RF coverage (3.5–5 km in deep canyon gorges on 868 MHz LoRa).</a:t>
            </a:r>
          </a:p>
          <a:p>
            <a:r>
              <a:rPr lang="en-US" sz="1200" dirty="0">
                <a:solidFill>
                  <a:schemeClr val="tx1"/>
                </a:solidFill>
              </a:rPr>
              <a:t>• Extreme Ruggedness: IP67 weatherproof housing operating from -20°C to +55°C with 50,000 hours MTBF (Mean Time Between</a:t>
            </a:r>
            <a:r>
              <a:rPr lang="en-US" dirty="0"/>
              <a:t> </a:t>
            </a:r>
            <a:r>
              <a:rPr lang="en-US" sz="1200" dirty="0">
                <a:solidFill>
                  <a:schemeClr val="tx1"/>
                </a:solidFill>
              </a:rPr>
              <a:t>Failures).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B643BF-E67A-735F-8817-BE4A1D1D38E4}"/>
              </a:ext>
            </a:extLst>
          </p:cNvPr>
          <p:cNvSpPr/>
          <p:nvPr/>
        </p:nvSpPr>
        <p:spPr>
          <a:xfrm>
            <a:off x="4961238" y="1257930"/>
            <a:ext cx="7103974" cy="1598002"/>
          </a:xfrm>
          <a:prstGeom prst="rect">
            <a:avLst/>
          </a:prstGeom>
          <a:solidFill>
            <a:srgbClr val="DBE6F1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sz="1600" u="sng" dirty="0">
                <a:solidFill>
                  <a:srgbClr val="F97316"/>
                </a:solidFill>
              </a:rPr>
              <a:t>Challenge 1: Cloud-Blindness During Severe Monsoons</a:t>
            </a:r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Problem: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During the monsoon season in the Himalayan belts, there is often 100% cloud cover, rendering standard optical satellites like Sentinel-2 completely useless for monitoring.</a:t>
            </a: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Solution:</a:t>
            </a:r>
            <a:r>
              <a:rPr lang="en-US" sz="2000" dirty="0"/>
              <a:t> </a:t>
            </a:r>
            <a:r>
              <a:rPr lang="en-US" sz="1400" dirty="0">
                <a:solidFill>
                  <a:schemeClr val="tx1"/>
                </a:solidFill>
              </a:rPr>
              <a:t>Ingests open-access ESA Sentinel-1 &amp; ISRO Microwave SAR Radar (5.405 GHz C-Band), piercing clouds and darkness to track 2–15 mm/week subterranean mountain creep weeks in advance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1509AA-0079-03C3-96CE-8F14599595A9}"/>
              </a:ext>
            </a:extLst>
          </p:cNvPr>
          <p:cNvSpPr txBox="1"/>
          <p:nvPr/>
        </p:nvSpPr>
        <p:spPr>
          <a:xfrm>
            <a:off x="0" y="769877"/>
            <a:ext cx="2512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⚙️ Technical Feasibility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219C8A-4BB0-21FF-9477-8B194822DAD0}"/>
              </a:ext>
            </a:extLst>
          </p:cNvPr>
          <p:cNvSpPr txBox="1"/>
          <p:nvPr/>
        </p:nvSpPr>
        <p:spPr>
          <a:xfrm>
            <a:off x="13112" y="2383414"/>
            <a:ext cx="4560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F8FAFC"/>
                </a:solidFill>
              </a:rPr>
              <a:t>🏔️ </a:t>
            </a: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Operational &amp; Environmental Feasibility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24498C1-517A-E438-2ACB-948037662C6A}"/>
              </a:ext>
            </a:extLst>
          </p:cNvPr>
          <p:cNvCxnSpPr/>
          <p:nvPr/>
        </p:nvCxnSpPr>
        <p:spPr>
          <a:xfrm>
            <a:off x="4758085" y="1068410"/>
            <a:ext cx="0" cy="5470505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B980B6E-400D-D109-96EA-4C88522CE18C}"/>
              </a:ext>
            </a:extLst>
          </p:cNvPr>
          <p:cNvSpPr txBox="1"/>
          <p:nvPr/>
        </p:nvSpPr>
        <p:spPr>
          <a:xfrm>
            <a:off x="4805378" y="875865"/>
            <a:ext cx="5080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⚠️ Core Challenges &amp; 🛡️ Our Technical Solutions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F65C613-075E-E3AF-B804-8A485D69BAC4}"/>
              </a:ext>
            </a:extLst>
          </p:cNvPr>
          <p:cNvSpPr/>
          <p:nvPr/>
        </p:nvSpPr>
        <p:spPr>
          <a:xfrm>
            <a:off x="4967236" y="5026055"/>
            <a:ext cx="7103974" cy="1338170"/>
          </a:xfrm>
          <a:prstGeom prst="rect">
            <a:avLst/>
          </a:prstGeom>
          <a:solidFill>
            <a:srgbClr val="DBE6F1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u="sng" dirty="0">
                <a:solidFill>
                  <a:srgbClr val="F97316"/>
                </a:solidFill>
              </a:rPr>
              <a:t>Challenge 3: Telecom &amp; Power Grid Washout During Disasters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The Problem:</a:t>
            </a:r>
            <a:r>
              <a:rPr lang="en-US" sz="1400" dirty="0">
                <a:solidFill>
                  <a:schemeClr val="tx1"/>
                </a:solidFill>
              </a:rPr>
              <a:t> Landslides destroy cellular towers and power lines first, causing internet-dependent SMS and mobile app notifications to fail completely.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The Solution:</a:t>
            </a:r>
            <a:r>
              <a:rPr lang="en-US" sz="1400" dirty="0">
                <a:solidFill>
                  <a:schemeClr val="tx1"/>
                </a:solidFill>
              </a:rPr>
              <a:t> Autonomous 868 MHz solar-powered LoRa mesh forms a peer-to-peer radio relay to trigger local 110dB sirens and automated highway boom gates in under 1.5 seconds offline.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2E7A85F-798C-89AD-8935-0489B0CE531B}"/>
              </a:ext>
            </a:extLst>
          </p:cNvPr>
          <p:cNvSpPr/>
          <p:nvPr/>
        </p:nvSpPr>
        <p:spPr>
          <a:xfrm>
            <a:off x="4962919" y="2846788"/>
            <a:ext cx="7103969" cy="2176598"/>
          </a:xfrm>
          <a:prstGeom prst="rect">
            <a:avLst/>
          </a:prstGeom>
          <a:solidFill>
            <a:srgbClr val="DBE6F1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sz="1600" u="sng" dirty="0">
                <a:solidFill>
                  <a:srgbClr val="F97316"/>
                </a:solidFill>
              </a:rPr>
              <a:t>Challenge 2: High False Alarms from Black-Box AI</a:t>
            </a:r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Problem: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Purely statistical models (like Random Forest or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XGBoost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generate massive false alarms because they rely on superficial rainfall thresholds while ignoring the specific soil composition, slope angle, and river cross-section of individual mountains.</a:t>
            </a:r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Solution: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We implement Physics-Informed Neural Networks (PINN) by integrating actual geotechnical formulas—specifically the Mohr-Coulomb Failure Criterion, Green-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Ampt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Infiltration, and 1D St.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Venant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Hydrodynamics—directly into the loss function. This mathematical fusion accurately predicts the real-time physical status of habitats and bridges with an $R^2 = 0.9997$ accuracy.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5104CE-D188-5C2A-3DF7-AE3A19D3C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3" y="4444838"/>
            <a:ext cx="4654296" cy="214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71808"/>
            <a:ext cx="12191999" cy="286191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571808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20208"/>
            <a:ext cx="1588078" cy="70275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Runtime Terror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C111DA2C-9874-8221-FA80-65C7EBA99C64}"/>
              </a:ext>
            </a:extLst>
          </p:cNvPr>
          <p:cNvSpPr txBox="1"/>
          <p:nvPr/>
        </p:nvSpPr>
        <p:spPr>
          <a:xfrm>
            <a:off x="2526698" y="1746505"/>
            <a:ext cx="323697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650ECD9C-FCAD-C688-E74C-ADB420C8DF0A}"/>
              </a:ext>
            </a:extLst>
          </p:cNvPr>
          <p:cNvSpPr txBox="1"/>
          <p:nvPr/>
        </p:nvSpPr>
        <p:spPr>
          <a:xfrm>
            <a:off x="8317992" y="1691640"/>
            <a:ext cx="323697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9AD727F7-E5CA-F102-4C66-19F34B70FC88}"/>
              </a:ext>
            </a:extLst>
          </p:cNvPr>
          <p:cNvSpPr/>
          <p:nvPr/>
        </p:nvSpPr>
        <p:spPr>
          <a:xfrm>
            <a:off x="6096000" y="3182112"/>
            <a:ext cx="0" cy="155448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none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D3FA767F-DC20-C067-824B-258FD9BDD03A}"/>
              </a:ext>
            </a:extLst>
          </p:cNvPr>
          <p:cNvSpPr/>
          <p:nvPr/>
        </p:nvSpPr>
        <p:spPr>
          <a:xfrm>
            <a:off x="6096000" y="3337560"/>
            <a:ext cx="0" cy="164592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0A3F69F9-F73B-D356-6256-F5B66A779F3C}"/>
              </a:ext>
            </a:extLst>
          </p:cNvPr>
          <p:cNvSpPr txBox="1"/>
          <p:nvPr/>
        </p:nvSpPr>
        <p:spPr>
          <a:xfrm>
            <a:off x="637032" y="429768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E01B71D9-7FC7-6AE5-DAE9-897C23B4895F}"/>
              </a:ext>
            </a:extLst>
          </p:cNvPr>
          <p:cNvSpPr txBox="1"/>
          <p:nvPr/>
        </p:nvSpPr>
        <p:spPr>
          <a:xfrm>
            <a:off x="655320" y="4590288"/>
            <a:ext cx="32004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523B4251-67A4-8B39-C5DA-27F9B8BB868A}"/>
              </a:ext>
            </a:extLst>
          </p:cNvPr>
          <p:cNvSpPr txBox="1"/>
          <p:nvPr/>
        </p:nvSpPr>
        <p:spPr>
          <a:xfrm>
            <a:off x="4477512" y="429768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4396EF44-A542-8681-F86D-7E1FA8D5D162}"/>
              </a:ext>
            </a:extLst>
          </p:cNvPr>
          <p:cNvSpPr txBox="1"/>
          <p:nvPr/>
        </p:nvSpPr>
        <p:spPr>
          <a:xfrm>
            <a:off x="4495800" y="4590288"/>
            <a:ext cx="32004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3A4B1548-4A02-F4A8-7BEF-5F11EA7A87C9}"/>
              </a:ext>
            </a:extLst>
          </p:cNvPr>
          <p:cNvSpPr txBox="1"/>
          <p:nvPr/>
        </p:nvSpPr>
        <p:spPr>
          <a:xfrm>
            <a:off x="8317992" y="429768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EB6B100-3FB9-FF12-7448-AB562C763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8" y="1072049"/>
            <a:ext cx="6386702" cy="4895277"/>
          </a:xfrm>
          <a:prstGeom prst="rect">
            <a:avLst/>
          </a:prstGeom>
        </p:spPr>
      </p:pic>
      <p:sp>
        <p:nvSpPr>
          <p:cNvPr id="43" name="Title 42">
            <a:extLst>
              <a:ext uri="{FF2B5EF4-FFF2-40B4-BE49-F238E27FC236}">
                <a16:creationId xmlns:a16="http://schemas.microsoft.com/office/drawing/2014/main" id="{64BED09A-45BE-567B-3EA6-4FEBCAC0D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3E6AD22-2AB6-8852-50D3-0E0E332B0576}"/>
              </a:ext>
            </a:extLst>
          </p:cNvPr>
          <p:cNvCxnSpPr>
            <a:cxnSpLocks/>
          </p:cNvCxnSpPr>
          <p:nvPr/>
        </p:nvCxnSpPr>
        <p:spPr>
          <a:xfrm>
            <a:off x="6416416" y="1040511"/>
            <a:ext cx="0" cy="4926815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Shape 32">
            <a:extLst>
              <a:ext uri="{FF2B5EF4-FFF2-40B4-BE49-F238E27FC236}">
                <a16:creationId xmlns:a16="http://schemas.microsoft.com/office/drawing/2014/main" id="{C372D711-0031-03E7-94FE-47B41D605705}"/>
              </a:ext>
            </a:extLst>
          </p:cNvPr>
          <p:cNvSpPr/>
          <p:nvPr/>
        </p:nvSpPr>
        <p:spPr>
          <a:xfrm>
            <a:off x="268961" y="1039128"/>
            <a:ext cx="6124357" cy="801023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latin typeface="Book Antiqua" panose="02040602050305030304" pitchFamily="18" charset="0"/>
              </a:rPr>
              <a:t>           SPEED &amp; TIME BENEFIT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Book Antiqua" panose="0204060205030503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E86004-8813-8A78-C130-586B94AC4726}"/>
              </a:ext>
            </a:extLst>
          </p:cNvPr>
          <p:cNvSpPr txBox="1"/>
          <p:nvPr/>
        </p:nvSpPr>
        <p:spPr>
          <a:xfrm>
            <a:off x="6393320" y="1044397"/>
            <a:ext cx="57986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HUMAN &amp; ECONOMIC IMPACT</a:t>
            </a:r>
            <a:endParaRPr lang="en-US" sz="2800" dirty="0">
              <a:latin typeface="Book Antiqua" panose="02040602050305030304" pitchFamily="18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BCCD132-C3C8-A357-22B2-E60AE7BD218F}"/>
              </a:ext>
            </a:extLst>
          </p:cNvPr>
          <p:cNvSpPr/>
          <p:nvPr/>
        </p:nvSpPr>
        <p:spPr>
          <a:xfrm>
            <a:off x="6521405" y="1644911"/>
            <a:ext cx="5519408" cy="4168692"/>
          </a:xfrm>
          <a:prstGeom prst="rect">
            <a:avLst/>
          </a:prstGeom>
          <a:solidFill>
            <a:srgbClr val="DBE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u="sng" dirty="0">
              <a:solidFill>
                <a:srgbClr val="F97316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C2D2453-047E-7361-7AF1-39B0F2CA4391}"/>
              </a:ext>
            </a:extLst>
          </p:cNvPr>
          <p:cNvSpPr txBox="1"/>
          <p:nvPr/>
        </p:nvSpPr>
        <p:spPr>
          <a:xfrm>
            <a:off x="6445136" y="1887347"/>
            <a:ext cx="6099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u="sng" dirty="0">
                <a:solidFill>
                  <a:srgbClr val="F97316"/>
                </a:solidFill>
              </a:rPr>
              <a:t>1. Humanitarian Life Defense (Beas Basin):</a:t>
            </a:r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5D6409-46FC-EEE5-10EF-BD83287F09A0}"/>
              </a:ext>
            </a:extLst>
          </p:cNvPr>
          <p:cNvSpPr txBox="1"/>
          <p:nvPr/>
        </p:nvSpPr>
        <p:spPr>
          <a:xfrm>
            <a:off x="6655664" y="2099019"/>
            <a:ext cx="5359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1. Protects 44,222+ vulnerable residents across 6 high-risk habitations in Beas River Basin (</a:t>
            </a:r>
            <a:r>
              <a:rPr lang="en-US" sz="1400" dirty="0" err="1"/>
              <a:t>Thalot</a:t>
            </a:r>
            <a:r>
              <a:rPr lang="en-US" sz="1400" dirty="0"/>
              <a:t>, </a:t>
            </a:r>
            <a:r>
              <a:rPr lang="en-US" sz="1400" dirty="0" err="1"/>
              <a:t>Larji</a:t>
            </a:r>
            <a:r>
              <a:rPr lang="en-US" sz="1400" dirty="0"/>
              <a:t>, </a:t>
            </a:r>
            <a:r>
              <a:rPr lang="en-US" sz="1400" dirty="0" err="1"/>
              <a:t>Aut</a:t>
            </a:r>
            <a:r>
              <a:rPr lang="en-US" sz="1400" dirty="0"/>
              <a:t>, </a:t>
            </a:r>
            <a:r>
              <a:rPr lang="en-US" sz="1400" dirty="0" err="1"/>
              <a:t>Pandoh</a:t>
            </a:r>
            <a:r>
              <a:rPr lang="en-US" sz="1400" dirty="0"/>
              <a:t>, </a:t>
            </a:r>
            <a:r>
              <a:rPr lang="en-US" sz="1400" dirty="0" err="1"/>
              <a:t>Bhuntar</a:t>
            </a:r>
            <a:r>
              <a:rPr lang="en-US" sz="1400" dirty="0"/>
              <a:t>, Mandi).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B44C290-C58B-641B-6A36-68C388143304}"/>
              </a:ext>
            </a:extLst>
          </p:cNvPr>
          <p:cNvSpPr txBox="1"/>
          <p:nvPr/>
        </p:nvSpPr>
        <p:spPr>
          <a:xfrm>
            <a:off x="6655663" y="2551236"/>
            <a:ext cx="54159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2.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Calibri" pitchFamily="34" charset="0"/>
              </a:rPr>
              <a:t> Integrates Census 2011 housing demographics to prioritize rescue convoys for high-kutcha settlements (e.g. </a:t>
            </a:r>
            <a:r>
              <a:rPr lang="en-US" sz="1400" b="0" i="0" dirty="0" err="1">
                <a:solidFill>
                  <a:schemeClr val="tx1"/>
                </a:solidFill>
                <a:effectLst/>
                <a:latin typeface="Calibri" pitchFamily="34" charset="0"/>
              </a:rPr>
              <a:t>Thalot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Calibri" pitchFamily="34" charset="0"/>
              </a:rPr>
              <a:t> 72% Kutcha).</a:t>
            </a:r>
            <a:endParaRPr lang="en-US" sz="1400" dirty="0"/>
          </a:p>
        </p:txBody>
      </p:sp>
      <p:sp>
        <p:nvSpPr>
          <p:cNvPr id="17410" name="TextBox 17409">
            <a:extLst>
              <a:ext uri="{FF2B5EF4-FFF2-40B4-BE49-F238E27FC236}">
                <a16:creationId xmlns:a16="http://schemas.microsoft.com/office/drawing/2014/main" id="{320DEF89-76DC-A1F1-6BC2-C89DBFD37012}"/>
              </a:ext>
            </a:extLst>
          </p:cNvPr>
          <p:cNvSpPr txBox="1"/>
          <p:nvPr/>
        </p:nvSpPr>
        <p:spPr>
          <a:xfrm>
            <a:off x="6445136" y="3036208"/>
            <a:ext cx="62682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sng" dirty="0">
                <a:solidFill>
                  <a:srgbClr val="F97316"/>
                </a:solidFill>
                <a:effectLst/>
                <a:latin typeface="+mn-lt"/>
              </a:rPr>
              <a:t>2. National Highway Lifeline Preservation:</a:t>
            </a:r>
            <a:endParaRPr lang="en-US" sz="1400" u="sng" dirty="0">
              <a:solidFill>
                <a:srgbClr val="F97316"/>
              </a:solidFill>
              <a:latin typeface="+mn-lt"/>
            </a:endParaRPr>
          </a:p>
        </p:txBody>
      </p:sp>
      <p:sp>
        <p:nvSpPr>
          <p:cNvPr id="17412" name="TextBox 17411">
            <a:extLst>
              <a:ext uri="{FF2B5EF4-FFF2-40B4-BE49-F238E27FC236}">
                <a16:creationId xmlns:a16="http://schemas.microsoft.com/office/drawing/2014/main" id="{3F690D84-D0F4-7101-4AF0-5FB7C858BEF0}"/>
              </a:ext>
            </a:extLst>
          </p:cNvPr>
          <p:cNvSpPr txBox="1"/>
          <p:nvPr/>
        </p:nvSpPr>
        <p:spPr>
          <a:xfrm>
            <a:off x="6646588" y="3298238"/>
            <a:ext cx="5494713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1400" dirty="0"/>
              <a:t>1.  </a:t>
            </a:r>
            <a:r>
              <a:rPr lang="en-US" sz="1400" b="0" i="0" dirty="0">
                <a:effectLst/>
                <a:latin typeface="Calibri" pitchFamily="34" charset="0"/>
              </a:rPr>
              <a:t>Real-time hydrodynamic pier scour diagnostics (vs &gt; 5 m/s) on 4 critical NH-21 highway bridges prevents structural vehicle washouts.</a:t>
            </a:r>
          </a:p>
          <a:p>
            <a:pPr indent="0" algn="l">
              <a:buNone/>
            </a:pPr>
            <a:r>
              <a:rPr lang="en-US" sz="1400" dirty="0"/>
              <a:t>2.</a:t>
            </a:r>
            <a:r>
              <a:rPr lang="en-US" sz="1400" b="0" i="0" dirty="0">
                <a:effectLst/>
                <a:latin typeface="Calibri" pitchFamily="34" charset="0"/>
              </a:rPr>
              <a:t> Automatically pre-positions BRO 70 RCC excavators and redirects ambulances to elevated ridge corridors before valley submergence.</a:t>
            </a:r>
          </a:p>
          <a:p>
            <a:pPr>
              <a:buNone/>
            </a:pPr>
            <a:br>
              <a:rPr lang="en-US" sz="1800" b="0" i="0" dirty="0">
                <a:solidFill>
                  <a:schemeClr val="tx1"/>
                </a:solidFill>
                <a:effectLst/>
                <a:latin typeface="Calibri" pitchFamily="34" charset="0"/>
              </a:rPr>
            </a:br>
            <a:endParaRPr lang="en-US" dirty="0"/>
          </a:p>
        </p:txBody>
      </p:sp>
      <p:sp>
        <p:nvSpPr>
          <p:cNvPr id="17414" name="TextBox 17413">
            <a:extLst>
              <a:ext uri="{FF2B5EF4-FFF2-40B4-BE49-F238E27FC236}">
                <a16:creationId xmlns:a16="http://schemas.microsoft.com/office/drawing/2014/main" id="{998E19DB-3D71-8B83-DC17-5041A10D0482}"/>
              </a:ext>
            </a:extLst>
          </p:cNvPr>
          <p:cNvSpPr txBox="1"/>
          <p:nvPr/>
        </p:nvSpPr>
        <p:spPr>
          <a:xfrm>
            <a:off x="6445136" y="4226199"/>
            <a:ext cx="65059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sng" dirty="0">
                <a:solidFill>
                  <a:srgbClr val="F97316"/>
                </a:solidFill>
                <a:effectLst/>
                <a:latin typeface="+mn-lt"/>
              </a:rPr>
              <a:t>3. State Disaster Management (SDMA) Support:</a:t>
            </a:r>
            <a:endParaRPr lang="en-US" sz="1400" u="sng" dirty="0">
              <a:solidFill>
                <a:srgbClr val="F97316"/>
              </a:solidFill>
              <a:latin typeface="+mn-lt"/>
            </a:endParaRPr>
          </a:p>
        </p:txBody>
      </p:sp>
      <p:sp>
        <p:nvSpPr>
          <p:cNvPr id="17416" name="TextBox 17415">
            <a:extLst>
              <a:ext uri="{FF2B5EF4-FFF2-40B4-BE49-F238E27FC236}">
                <a16:creationId xmlns:a16="http://schemas.microsoft.com/office/drawing/2014/main" id="{F6896380-BEBE-B32C-216D-B0D2859E89A0}"/>
              </a:ext>
            </a:extLst>
          </p:cNvPr>
          <p:cNvSpPr txBox="1"/>
          <p:nvPr/>
        </p:nvSpPr>
        <p:spPr>
          <a:xfrm>
            <a:off x="6655663" y="4426132"/>
            <a:ext cx="54338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1.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Calibri" pitchFamily="34" charset="0"/>
              </a:rPr>
              <a:t> AI Permanent Relocation Matrix: Employs Multi-Criteria Decision Analysis (MCDA 0–100) to rank endangered habitations for long-term safe rehabilitation.</a:t>
            </a:r>
            <a:endParaRPr lang="en-US" sz="1400" dirty="0"/>
          </a:p>
        </p:txBody>
      </p:sp>
      <p:sp>
        <p:nvSpPr>
          <p:cNvPr id="17418" name="TextBox 17417">
            <a:extLst>
              <a:ext uri="{FF2B5EF4-FFF2-40B4-BE49-F238E27FC236}">
                <a16:creationId xmlns:a16="http://schemas.microsoft.com/office/drawing/2014/main" id="{38BE53D9-202A-3784-6639-AE2A16009F39}"/>
              </a:ext>
            </a:extLst>
          </p:cNvPr>
          <p:cNvSpPr txBox="1"/>
          <p:nvPr/>
        </p:nvSpPr>
        <p:spPr>
          <a:xfrm>
            <a:off x="6435423" y="5078711"/>
            <a:ext cx="5594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1400" b="0" i="0" u="sng" dirty="0">
                <a:solidFill>
                  <a:srgbClr val="F97316"/>
                </a:solidFill>
                <a:effectLst/>
                <a:latin typeface="Calibri" pitchFamily="34" charset="0"/>
              </a:rPr>
              <a:t>4. Inter-Agency Unified Command &amp; Sachet Integration:</a:t>
            </a:r>
          </a:p>
          <a:p>
            <a:pPr indent="0" algn="l">
              <a:buNone/>
            </a:pPr>
            <a:r>
              <a:rPr lang="en-US" sz="1400" dirty="0"/>
              <a:t>     1.</a:t>
            </a:r>
            <a:r>
              <a:rPr lang="en-US" sz="1400" b="0" i="0" dirty="0">
                <a:effectLst/>
                <a:latin typeface="Calibri" pitchFamily="34" charset="0"/>
              </a:rPr>
              <a:t>Streams official NDMA CAP v1.2 XML feeds to unify District Collectors,        </a:t>
            </a:r>
            <a:r>
              <a:rPr lang="en-US" sz="1400" dirty="0"/>
              <a:t>            </a:t>
            </a:r>
            <a:endParaRPr lang="en-US" sz="1400" b="0" i="0" dirty="0">
              <a:effectLst/>
              <a:latin typeface="Courier New" panose="02070309020205020404" pitchFamily="49" charset="0"/>
            </a:endParaRPr>
          </a:p>
        </p:txBody>
      </p:sp>
      <p:sp>
        <p:nvSpPr>
          <p:cNvPr id="17420" name="TextBox 17419">
            <a:extLst>
              <a:ext uri="{FF2B5EF4-FFF2-40B4-BE49-F238E27FC236}">
                <a16:creationId xmlns:a16="http://schemas.microsoft.com/office/drawing/2014/main" id="{C632DFD6-8CE7-A4E0-C669-9EC84BFFADB6}"/>
              </a:ext>
            </a:extLst>
          </p:cNvPr>
          <p:cNvSpPr txBox="1"/>
          <p:nvPr/>
        </p:nvSpPr>
        <p:spPr>
          <a:xfrm>
            <a:off x="6655664" y="5448593"/>
            <a:ext cx="64739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effectLst/>
                <a:latin typeface="Calibri" pitchFamily="34" charset="0"/>
              </a:rPr>
              <a:t>SDMA, and NDRF battalions with zero communication delay.</a:t>
            </a:r>
            <a:endParaRPr lang="en-US" dirty="0"/>
          </a:p>
        </p:txBody>
      </p:sp>
      <p:sp>
        <p:nvSpPr>
          <p:cNvPr id="17421" name="Rectangle 17420">
            <a:extLst>
              <a:ext uri="{FF2B5EF4-FFF2-40B4-BE49-F238E27FC236}">
                <a16:creationId xmlns:a16="http://schemas.microsoft.com/office/drawing/2014/main" id="{38A47A37-D85A-E3AF-023F-5F57068ADE0F}"/>
              </a:ext>
            </a:extLst>
          </p:cNvPr>
          <p:cNvSpPr/>
          <p:nvPr/>
        </p:nvSpPr>
        <p:spPr>
          <a:xfrm>
            <a:off x="162064" y="6035040"/>
            <a:ext cx="11927421" cy="457834"/>
          </a:xfrm>
          <a:prstGeom prst="rect">
            <a:avLst/>
          </a:prstGeom>
          <a:solidFill>
            <a:srgbClr val="DBE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23" name="TextBox 17422">
            <a:extLst>
              <a:ext uri="{FF2B5EF4-FFF2-40B4-BE49-F238E27FC236}">
                <a16:creationId xmlns:a16="http://schemas.microsoft.com/office/drawing/2014/main" id="{23BA716B-07C9-1A88-6A9C-EFB07D6987FD}"/>
              </a:ext>
            </a:extLst>
          </p:cNvPr>
          <p:cNvSpPr txBox="1"/>
          <p:nvPr/>
        </p:nvSpPr>
        <p:spPr>
          <a:xfrm>
            <a:off x="110248" y="5995360"/>
            <a:ext cx="65653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rgbClr val="F97316"/>
                </a:solidFill>
                <a:effectLst/>
                <a:latin typeface="Calibri" pitchFamily="34" charset="0"/>
              </a:rPr>
              <a:t>STRATEGIC TAKEAWAY:</a:t>
            </a:r>
            <a:endParaRPr lang="en-US" sz="1400" b="1" dirty="0">
              <a:solidFill>
                <a:srgbClr val="F97316"/>
              </a:solidFill>
            </a:endParaRPr>
          </a:p>
        </p:txBody>
      </p:sp>
      <p:sp>
        <p:nvSpPr>
          <p:cNvPr id="17425" name="TextBox 17424">
            <a:extLst>
              <a:ext uri="{FF2B5EF4-FFF2-40B4-BE49-F238E27FC236}">
                <a16:creationId xmlns:a16="http://schemas.microsoft.com/office/drawing/2014/main" id="{D3D4BB28-5C9E-E4D1-C036-B01BE1DEF84B}"/>
              </a:ext>
            </a:extLst>
          </p:cNvPr>
          <p:cNvSpPr txBox="1"/>
          <p:nvPr/>
        </p:nvSpPr>
        <p:spPr>
          <a:xfrm>
            <a:off x="136539" y="6020290"/>
            <a:ext cx="1187874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tx1"/>
                </a:solidFill>
                <a:effectLst/>
                <a:latin typeface="Calibri" pitchFamily="34" charset="0"/>
              </a:rPr>
              <a:t>                                                </a:t>
            </a:r>
            <a:r>
              <a:rPr lang="en-US" sz="1300" b="1" i="0" dirty="0">
                <a:solidFill>
                  <a:schemeClr val="tx1"/>
                </a:solidFill>
                <a:effectLst/>
                <a:latin typeface="Calibri" pitchFamily="34" charset="0"/>
              </a:rPr>
              <a:t> In rapid-onset Himalayan disasters, time is the ultimate currency of survival. By compressing warning latency from 45 minutes to &lt; 1.5 seconds, </a:t>
            </a:r>
            <a:r>
              <a:rPr lang="en-US" sz="1300" b="1" i="0" dirty="0" err="1">
                <a:solidFill>
                  <a:schemeClr val="tx1"/>
                </a:solidFill>
                <a:effectLst/>
                <a:latin typeface="Calibri" pitchFamily="34" charset="0"/>
              </a:rPr>
              <a:t>GeoResilience</a:t>
            </a:r>
            <a:r>
              <a:rPr lang="en-US" sz="1300" b="1" i="0" dirty="0">
                <a:solidFill>
                  <a:schemeClr val="tx1"/>
                </a:solidFill>
                <a:effectLst/>
                <a:latin typeface="Calibri" pitchFamily="34" charset="0"/>
              </a:rPr>
              <a:t> AI delivers a 600x faster response window—transforming predictive physics into an active, fail-safe life-defense shield for 44,222+ vulnerable citizens.</a:t>
            </a:r>
            <a:endParaRPr lang="en-US" sz="1300" b="1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5754"/>
            <a:ext cx="12191999" cy="25224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549314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73588"/>
            <a:ext cx="1508859" cy="65232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Runtime Terror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 4">
            <a:extLst>
              <a:ext uri="{FF2B5EF4-FFF2-40B4-BE49-F238E27FC236}">
                <a16:creationId xmlns:a16="http://schemas.microsoft.com/office/drawing/2014/main" id="{2F6AF924-A4ED-7B41-0CCF-60444D84E785}"/>
              </a:ext>
            </a:extLst>
          </p:cNvPr>
          <p:cNvSpPr txBox="1"/>
          <p:nvPr/>
        </p:nvSpPr>
        <p:spPr>
          <a:xfrm>
            <a:off x="329773" y="1314617"/>
            <a:ext cx="11344067" cy="5119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SzPct val="100000"/>
              <a:buFontTx/>
              <a:buChar char="●"/>
            </a:pPr>
            <a:r>
              <a:rPr lang="en-US" b="1" dirty="0"/>
              <a:t>1. Policy &amp; Disaster Frameworks</a:t>
            </a:r>
          </a:p>
          <a:p>
            <a:pPr marL="342900" indent="-342900">
              <a:lnSpc>
                <a:spcPct val="105000"/>
              </a:lnSpc>
              <a:spcBef>
                <a:spcPts val="800"/>
              </a:spcBef>
              <a:spcAft>
                <a:spcPts val="400"/>
              </a:spcAft>
              <a:buSzPct val="100000"/>
              <a:buChar char="●"/>
            </a:pPr>
            <a:endParaRPr lang="en-US" dirty="0"/>
          </a:p>
          <a:p>
            <a:pPr marL="685800" lvl="1" indent="-342900">
              <a:lnSpc>
                <a:spcPct val="105000"/>
              </a:lnSpc>
              <a:spcAft>
                <a:spcPts val="300"/>
              </a:spcAft>
              <a:buSzPct val="100000"/>
              <a:buChar char="○"/>
            </a:pPr>
            <a:r>
              <a:rPr lang="en-US" sz="1600" u="sng" dirty="0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NDMA Guidelines: https://ndma.gov.in/Governance/Guidelines</a:t>
            </a:r>
            <a:endParaRPr lang="en-US" sz="1600" dirty="0"/>
          </a:p>
          <a:p>
            <a:pPr marL="685800" lvl="1" indent="-342900">
              <a:lnSpc>
                <a:spcPct val="105000"/>
              </a:lnSpc>
              <a:spcAft>
                <a:spcPts val="300"/>
              </a:spcAft>
              <a:buSzPct val="100000"/>
              <a:buChar char="○"/>
            </a:pPr>
            <a:r>
              <a:rPr lang="en-US" sz="1600" u="sng" dirty="0">
                <a:solidFill>
                  <a:srgbClr val="1155CC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NITI Aayog Himalayan Strategy: https://www.niti.gov.in</a:t>
            </a:r>
            <a:endParaRPr lang="en-US" sz="1600" dirty="0"/>
          </a:p>
          <a:p>
            <a:pPr marL="685800" lvl="1" indent="-342900">
              <a:lnSpc>
                <a:spcPct val="105000"/>
              </a:lnSpc>
              <a:spcAft>
                <a:spcPts val="300"/>
              </a:spcAft>
              <a:buSzPct val="100000"/>
              <a:buChar char="○"/>
            </a:pPr>
            <a:r>
              <a:rPr lang="en-US" sz="1600" u="sng" dirty="0">
                <a:solidFill>
                  <a:srgbClr val="1155CC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ISRO Bhuvan Portal: https://bhuvan.nrsc.gov.in</a:t>
            </a:r>
            <a:endParaRPr lang="en-US" sz="1600" dirty="0"/>
          </a:p>
          <a:p>
            <a:pPr marL="685800" lvl="1" indent="-342900">
              <a:lnSpc>
                <a:spcPct val="105000"/>
              </a:lnSpc>
              <a:spcAft>
                <a:spcPts val="300"/>
              </a:spcAft>
              <a:buSzPct val="100000"/>
              <a:buChar char="○"/>
            </a:pPr>
            <a:r>
              <a:rPr lang="en-US" sz="1600" u="sng" dirty="0">
                <a:solidFill>
                  <a:srgbClr val="1155CC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HPSDMA Disaster Plan: https://hpsdma.nic.in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Bef>
                <a:spcPts val="800"/>
              </a:spcBef>
              <a:spcAft>
                <a:spcPts val="400"/>
              </a:spcAft>
              <a:buSzPct val="100000"/>
              <a:buChar char="●"/>
            </a:pPr>
            <a:r>
              <a:rPr lang="en-US" b="1" dirty="0">
                <a:solidFill>
                  <a:srgbClr val="1A1A1A"/>
                </a:solidFill>
              </a:rPr>
              <a:t>Mathematical Algorithms &amp; Physics Laws</a:t>
            </a:r>
            <a:endParaRPr lang="en-US" dirty="0"/>
          </a:p>
          <a:p>
            <a:pPr marL="685800" lvl="1" indent="-342900">
              <a:lnSpc>
                <a:spcPct val="105000"/>
              </a:lnSpc>
              <a:spcAft>
                <a:spcPts val="300"/>
              </a:spcAft>
              <a:buSzPct val="100000"/>
              <a:buChar char="○"/>
            </a:pPr>
            <a:r>
              <a:rPr lang="en-US" sz="1600" u="sng" dirty="0">
                <a:solidFill>
                  <a:srgbClr val="1155CC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Physics-Informed Neural Networks (PINN): https://en.wikipedia.org/wiki/Physics-informed_neural_networks</a:t>
            </a:r>
            <a:endParaRPr lang="en-US" sz="1600" dirty="0"/>
          </a:p>
          <a:p>
            <a:pPr marL="685800" lvl="1" indent="-342900">
              <a:lnSpc>
                <a:spcPct val="105000"/>
              </a:lnSpc>
              <a:spcAft>
                <a:spcPts val="300"/>
              </a:spcAft>
              <a:buSzPct val="100000"/>
              <a:buChar char="○"/>
            </a:pPr>
            <a:r>
              <a:rPr lang="en-US" sz="1600" u="sng" dirty="0">
                <a:solidFill>
                  <a:srgbClr val="1155CC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Mohr-Coulomb Failure Theory: https://en.wikipedia.org/wiki/Mohr%E2%80%93Coulomb_theory</a:t>
            </a:r>
            <a:endParaRPr lang="en-US" sz="1600" dirty="0"/>
          </a:p>
          <a:p>
            <a:pPr marL="685800" lvl="1" indent="-342900">
              <a:lnSpc>
                <a:spcPct val="105000"/>
              </a:lnSpc>
              <a:spcAft>
                <a:spcPts val="300"/>
              </a:spcAft>
              <a:buSzPct val="100000"/>
              <a:buChar char="○"/>
            </a:pPr>
            <a:r>
              <a:rPr lang="en-US" sz="1600" u="sng" dirty="0">
                <a:solidFill>
                  <a:srgbClr val="1155CC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Slope Stability Analysis (F_s): https://en.wikipedia.org/wiki/Slope_stability_analysis</a:t>
            </a:r>
            <a:endParaRPr lang="en-US" sz="1600" dirty="0"/>
          </a:p>
          <a:p>
            <a:pPr marL="685800" lvl="1" indent="-342900">
              <a:lnSpc>
                <a:spcPct val="105000"/>
              </a:lnSpc>
              <a:spcAft>
                <a:spcPts val="300"/>
              </a:spcAft>
              <a:buSzPct val="100000"/>
              <a:buChar char="○"/>
            </a:pPr>
            <a:r>
              <a:rPr lang="en-US" sz="1600" u="sng" dirty="0">
                <a:solidFill>
                  <a:srgbClr val="1155CC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Green-Ampt Infiltration: https://en.wikipedia.org/wiki/Infiltration_(hydrology)#Green_and_Ampt</a:t>
            </a:r>
            <a:endParaRPr lang="en-US" sz="1600" dirty="0"/>
          </a:p>
          <a:p>
            <a:pPr marL="685800" lvl="1" indent="-342900">
              <a:lnSpc>
                <a:spcPct val="105000"/>
              </a:lnSpc>
              <a:spcAft>
                <a:spcPts val="300"/>
              </a:spcAft>
              <a:buSzPct val="100000"/>
              <a:buChar char="○"/>
            </a:pPr>
            <a:r>
              <a:rPr lang="en-US" sz="1600" u="sng" dirty="0">
                <a:solidFill>
                  <a:srgbClr val="1155CC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1D Saint-Venant Shallow Water Equations: https://en.wikipedia.org/wiki/Shallow_water_equations</a:t>
            </a:r>
            <a:endParaRPr lang="en-US" sz="1600" dirty="0"/>
          </a:p>
          <a:p>
            <a:pPr marL="685800" lvl="1" indent="-342900">
              <a:lnSpc>
                <a:spcPct val="105000"/>
              </a:lnSpc>
              <a:spcAft>
                <a:spcPts val="300"/>
              </a:spcAft>
              <a:buSzPct val="100000"/>
              <a:buChar char="○"/>
            </a:pPr>
            <a:r>
              <a:rPr lang="en-US" sz="1600" u="sng" dirty="0">
                <a:solidFill>
                  <a:srgbClr val="1155CC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Manning's Formula (Discharge Q): https://en.wikipedia.org/wiki/Manning_formula</a:t>
            </a:r>
            <a:endParaRPr lang="en-US" sz="1600" dirty="0"/>
          </a:p>
          <a:p>
            <a:pPr marL="685800" lvl="1" indent="-342900">
              <a:lnSpc>
                <a:spcPct val="105000"/>
              </a:lnSpc>
              <a:spcAft>
                <a:spcPts val="300"/>
              </a:spcAft>
              <a:buSzPct val="100000"/>
              <a:buChar char="○"/>
            </a:pPr>
            <a:r>
              <a:rPr lang="en-US" sz="1600" u="sng" dirty="0">
                <a:solidFill>
                  <a:srgbClr val="1155CC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Bridge Pier Scour Mechanics: https://en.wikipedia.org/wiki/Bridge_scour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Bef>
                <a:spcPts val="800"/>
              </a:spcBef>
              <a:spcAft>
                <a:spcPts val="400"/>
              </a:spcAft>
              <a:buSzPct val="100000"/>
              <a:buChar char="●"/>
            </a:pPr>
            <a:r>
              <a:rPr lang="en-US" b="1" dirty="0">
                <a:solidFill>
                  <a:srgbClr val="1A1A1A"/>
                </a:solidFill>
              </a:rPr>
              <a:t>Satellite &amp; Emergency Standards</a:t>
            </a:r>
            <a:endParaRPr lang="en-US" dirty="0"/>
          </a:p>
          <a:p>
            <a:pPr marL="685800" lvl="1" indent="-342900">
              <a:lnSpc>
                <a:spcPct val="105000"/>
              </a:lnSpc>
              <a:spcAft>
                <a:spcPts val="300"/>
              </a:spcAft>
              <a:buSzPct val="100000"/>
              <a:buChar char="○"/>
            </a:pPr>
            <a:r>
              <a:rPr lang="en-US" sz="1600" u="sng" dirty="0">
                <a:solidFill>
                  <a:srgbClr val="1155CC"/>
                </a:solid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ISRO Cartosat-1: https://en.wikipedia.org/wiki/Cartosat-1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8289</TotalTime>
  <Words>1556</Words>
  <Application>Microsoft Office PowerPoint</Application>
  <PresentationFormat>Widescreen</PresentationFormat>
  <Paragraphs>107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Arial</vt:lpstr>
      <vt:lpstr>Book Antiqua</vt:lpstr>
      <vt:lpstr>Calibri</vt:lpstr>
      <vt:lpstr>Courier New</vt:lpstr>
      <vt:lpstr>Garamond</vt:lpstr>
      <vt:lpstr>Times New Roman</vt:lpstr>
      <vt:lpstr>TradeGothic</vt:lpstr>
      <vt:lpstr>Wingdings</vt:lpstr>
      <vt:lpstr>Office Theme</vt:lpstr>
      <vt:lpstr>SMART INDIA HACKATHON 2026</vt:lpstr>
      <vt:lpstr> Flash Flood Prediction System for Hilly Regions using Multi-Source Data Theme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yashu sharma</cp:lastModifiedBy>
  <cp:revision>163</cp:revision>
  <dcterms:created xsi:type="dcterms:W3CDTF">2013-12-12T18:46:50Z</dcterms:created>
  <dcterms:modified xsi:type="dcterms:W3CDTF">2026-09-05T06:41:35Z</dcterms:modified>
  <cp:category/>
</cp:coreProperties>
</file>